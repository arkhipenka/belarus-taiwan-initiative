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6527b7027c4f43" /><Relationship Type="http://schemas.openxmlformats.org/officeDocument/2006/relationships/extended-properties" Target="/docProps/app.xml" Id="R2f439672532a4a87" /><Relationship Type="http://schemas.openxmlformats.org/officeDocument/2006/relationships/officeDocument" Target="/ppt/presentation.xml" Id="R7e7fe9e6dec64ce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6d2668d2ef74afc"/>
  </p:sldMasterIdLst>
  <p:notesMasterIdLst>
    <p:notesMasterId xmlns:r="http://schemas.openxmlformats.org/officeDocument/2006/relationships" r:id="R0397ce836b444143"/>
  </p:notesMasterIdLst>
  <p:sldIdLst>
    <p:sldId xmlns:r="http://schemas.openxmlformats.org/officeDocument/2006/relationships" id="256" r:id="Rc5a18877735646a5"/>
    <p:sldId xmlns:r="http://schemas.openxmlformats.org/officeDocument/2006/relationships" id="257" r:id="R74f93aab48b74327"/>
    <p:sldId xmlns:r="http://schemas.openxmlformats.org/officeDocument/2006/relationships" id="258" r:id="R0cffc72291514e95"/>
    <p:sldId xmlns:r="http://schemas.openxmlformats.org/officeDocument/2006/relationships" id="259" r:id="Ra47317f41d2b406d"/>
    <p:sldId xmlns:r="http://schemas.openxmlformats.org/officeDocument/2006/relationships" id="260" r:id="R4ca0f8aaebc74dd0"/>
    <p:sldId xmlns:r="http://schemas.openxmlformats.org/officeDocument/2006/relationships" id="261" r:id="R89860dff76534a8c"/>
    <p:sldId xmlns:r="http://schemas.openxmlformats.org/officeDocument/2006/relationships" id="262" r:id="R3a0c9aa9e7224d6a"/>
    <p:sldId xmlns:r="http://schemas.openxmlformats.org/officeDocument/2006/relationships" id="263" r:id="R8031f129bded47ef"/>
    <p:sldId xmlns:r="http://schemas.openxmlformats.org/officeDocument/2006/relationships" id="264" r:id="R4becd8a93bcd46c8"/>
    <p:sldId xmlns:r="http://schemas.openxmlformats.org/officeDocument/2006/relationships" id="265" r:id="R7665c750dee741f1"/>
    <p:sldId xmlns:r="http://schemas.openxmlformats.org/officeDocument/2006/relationships" id="266" r:id="R6d0fdba68af440a9"/>
    <p:sldId xmlns:r="http://schemas.openxmlformats.org/officeDocument/2006/relationships" id="267" r:id="R60043158d7ed46ec"/>
    <p:sldId xmlns:r="http://schemas.openxmlformats.org/officeDocument/2006/relationships" id="268" r:id="Rbb78f1b4f4024c84"/>
    <p:sldId xmlns:r="http://schemas.openxmlformats.org/officeDocument/2006/relationships" id="269" r:id="R60888ca5e6a34b09"/>
    <p:sldId xmlns:r="http://schemas.openxmlformats.org/officeDocument/2006/relationships" id="270" r:id="Rcaae0d6ece3f424c"/>
    <p:sldId xmlns:r="http://schemas.openxmlformats.org/officeDocument/2006/relationships" id="271" r:id="Rff9c3f52167145a3"/>
    <p:sldId xmlns:r="http://schemas.openxmlformats.org/officeDocument/2006/relationships" id="272" r:id="R08ab31186bc74e0c"/>
    <p:sldId xmlns:r="http://schemas.openxmlformats.org/officeDocument/2006/relationships" id="273" r:id="Rcf61dc10ce8a47be"/>
    <p:sldId xmlns:r="http://schemas.openxmlformats.org/officeDocument/2006/relationships" id="274" r:id="R491c397dde5846a4"/>
    <p:sldId xmlns:r="http://schemas.openxmlformats.org/officeDocument/2006/relationships" id="275" r:id="R2d2a636106614ebe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3b3b144eaa44b52" /><Relationship Type="http://schemas.openxmlformats.org/officeDocument/2006/relationships/slideMaster" Target="/ppt/slideMasters/slideMaster1.xml" Id="R46d2668d2ef74afc" /><Relationship Type="http://schemas.openxmlformats.org/officeDocument/2006/relationships/notesMaster" Target="/ppt/notesMasters/notesMaster1.xml" Id="R0397ce836b444143" /><Relationship Type="http://schemas.openxmlformats.org/officeDocument/2006/relationships/presProps" Target="/ppt/presProps.xml" Id="Rf71f8f3d2baf4139" /><Relationship Type="http://schemas.openxmlformats.org/officeDocument/2006/relationships/tableStyles" Target="/ppt/tableStyles.xml" Id="R54ef6ca25da347c1" /><Relationship Type="http://schemas.openxmlformats.org/officeDocument/2006/relationships/slide" Target="/ppt/slides/slide1.xml" Id="Rc5a18877735646a5" /><Relationship Type="http://schemas.openxmlformats.org/officeDocument/2006/relationships/slide" Target="/ppt/slides/slide2.xml" Id="R74f93aab48b74327" /><Relationship Type="http://schemas.openxmlformats.org/officeDocument/2006/relationships/slide" Target="/ppt/slides/slide3.xml" Id="R0cffc72291514e95" /><Relationship Type="http://schemas.openxmlformats.org/officeDocument/2006/relationships/slide" Target="/ppt/slides/slide4.xml" Id="Ra47317f41d2b406d" /><Relationship Type="http://schemas.openxmlformats.org/officeDocument/2006/relationships/slide" Target="/ppt/slides/slide5.xml" Id="R4ca0f8aaebc74dd0" /><Relationship Type="http://schemas.openxmlformats.org/officeDocument/2006/relationships/slide" Target="/ppt/slides/slide6.xml" Id="R89860dff76534a8c" /><Relationship Type="http://schemas.openxmlformats.org/officeDocument/2006/relationships/slide" Target="/ppt/slides/slide7.xml" Id="R3a0c9aa9e7224d6a" /><Relationship Type="http://schemas.openxmlformats.org/officeDocument/2006/relationships/slide" Target="/ppt/slides/slide8.xml" Id="R8031f129bded47ef" /><Relationship Type="http://schemas.openxmlformats.org/officeDocument/2006/relationships/slide" Target="/ppt/slides/slide9.xml" Id="R4becd8a93bcd46c8" /><Relationship Type="http://schemas.openxmlformats.org/officeDocument/2006/relationships/slide" Target="/ppt/slides/slide10.xml" Id="R7665c750dee741f1" /><Relationship Type="http://schemas.openxmlformats.org/officeDocument/2006/relationships/slide" Target="/ppt/slides/slide11.xml" Id="R6d0fdba68af440a9" /><Relationship Type="http://schemas.openxmlformats.org/officeDocument/2006/relationships/slide" Target="/ppt/slides/slide12.xml" Id="R60043158d7ed46ec" /><Relationship Type="http://schemas.openxmlformats.org/officeDocument/2006/relationships/slide" Target="/ppt/slides/slide13.xml" Id="Rbb78f1b4f4024c84" /><Relationship Type="http://schemas.openxmlformats.org/officeDocument/2006/relationships/slide" Target="/ppt/slides/slide14.xml" Id="R60888ca5e6a34b09" /><Relationship Type="http://schemas.openxmlformats.org/officeDocument/2006/relationships/slide" Target="/ppt/slides/slide15.xml" Id="Rcaae0d6ece3f424c" /><Relationship Type="http://schemas.openxmlformats.org/officeDocument/2006/relationships/slide" Target="/ppt/slides/slide16.xml" Id="Rff9c3f52167145a3" /><Relationship Type="http://schemas.openxmlformats.org/officeDocument/2006/relationships/slide" Target="/ppt/slides/slide17.xml" Id="R08ab31186bc74e0c" /><Relationship Type="http://schemas.openxmlformats.org/officeDocument/2006/relationships/slide" Target="/ppt/slides/slide18.xml" Id="Rcf61dc10ce8a47be" /><Relationship Type="http://schemas.openxmlformats.org/officeDocument/2006/relationships/slide" Target="/ppt/slides/slide19.xml" Id="R491c397dde5846a4" /><Relationship Type="http://schemas.openxmlformats.org/officeDocument/2006/relationships/slide" Target="/ppt/slides/slide20.xml" Id="R2d2a636106614eb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021fdab79fb40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367b640d1f4934" /><Relationship Type="http://schemas.openxmlformats.org/officeDocument/2006/relationships/notesMaster" Target="/ppt/notesMasters/notesMaster1.xml" Id="Ref9c722c466f474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278ab84aa794d38" /><Relationship Type="http://schemas.openxmlformats.org/officeDocument/2006/relationships/notesMaster" Target="/ppt/notesMasters/notesMaster1.xml" Id="Rcbeeb85d5d0144f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9dfa9ba31b04593" /><Relationship Type="http://schemas.openxmlformats.org/officeDocument/2006/relationships/notesMaster" Target="/ppt/notesMasters/notesMaster1.xml" Id="R95180a39c8704ed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7ed16add6b46a1" /><Relationship Type="http://schemas.openxmlformats.org/officeDocument/2006/relationships/notesMaster" Target="/ppt/notesMasters/notesMaster1.xml" Id="Re118c5021a1c47c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51f828b02c143c2" /><Relationship Type="http://schemas.openxmlformats.org/officeDocument/2006/relationships/notesMaster" Target="/ppt/notesMasters/notesMaster1.xml" Id="R7e631cd0dc8f474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b3fab28af1147d9" /><Relationship Type="http://schemas.openxmlformats.org/officeDocument/2006/relationships/notesMaster" Target="/ppt/notesMasters/notesMaster1.xml" Id="Rdfa7b7aa8584478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4ad032ef4824ba8" /><Relationship Type="http://schemas.openxmlformats.org/officeDocument/2006/relationships/notesMaster" Target="/ppt/notesMasters/notesMaster1.xml" Id="R4e8bc587f3f6483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aa0fd3cad3b486f" /><Relationship Type="http://schemas.openxmlformats.org/officeDocument/2006/relationships/notesMaster" Target="/ppt/notesMasters/notesMaster1.xml" Id="Rea44cfce347c48e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09266919c524c36" /><Relationship Type="http://schemas.openxmlformats.org/officeDocument/2006/relationships/notesMaster" Target="/ppt/notesMasters/notesMaster1.xml" Id="R18cd14f809564df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61901ec71d24735" /><Relationship Type="http://schemas.openxmlformats.org/officeDocument/2006/relationships/notesMaster" Target="/ppt/notesMasters/notesMaster1.xml" Id="Rf9fdbeb82c074eb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e0703d83dec4367" /><Relationship Type="http://schemas.openxmlformats.org/officeDocument/2006/relationships/notesMaster" Target="/ppt/notesMasters/notesMaster1.xml" Id="R7b55a9d486554a8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9573f8b527449cc" /><Relationship Type="http://schemas.openxmlformats.org/officeDocument/2006/relationships/notesMaster" Target="/ppt/notesMasters/notesMaster1.xml" Id="R542db0d9a4274db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e3a7a30a05f40d4" /><Relationship Type="http://schemas.openxmlformats.org/officeDocument/2006/relationships/notesMaster" Target="/ppt/notesMasters/notesMaster1.xml" Id="Rd4506d1467404bd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46ce9ed0bc74c8c" /><Relationship Type="http://schemas.openxmlformats.org/officeDocument/2006/relationships/notesMaster" Target="/ppt/notesMasters/notesMaster1.xml" Id="R16c95dfa35624e0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db4dfface034f7f" /><Relationship Type="http://schemas.openxmlformats.org/officeDocument/2006/relationships/notesMaster" Target="/ppt/notesMasters/notesMaster1.xml" Id="R35482b674e17456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e47798d186244de" /><Relationship Type="http://schemas.openxmlformats.org/officeDocument/2006/relationships/notesMaster" Target="/ppt/notesMasters/notesMaster1.xml" Id="R28677be90166471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c4e1b94395d40f9" /><Relationship Type="http://schemas.openxmlformats.org/officeDocument/2006/relationships/notesMaster" Target="/ppt/notesMasters/notesMaster1.xml" Id="Ra65aa2e5bfad479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8e2f9dc726b4eee" /><Relationship Type="http://schemas.openxmlformats.org/officeDocument/2006/relationships/notesMaster" Target="/ppt/notesMasters/notesMaster1.xml" Id="Rae52776b99de441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f1bb72c0b3d14762" /><Relationship Type="http://schemas.openxmlformats.org/officeDocument/2006/relationships/notesMaster" Target="/ppt/notesMasters/notesMaster1.xml" Id="R54ae76e19bc34271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d251f74f6674d39" /><Relationship Type="http://schemas.openxmlformats.org/officeDocument/2006/relationships/notesMaster" Target="/ppt/notesMasters/notesMaster1.xml" Id="Rca6181a4ae8a47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1. Культура памяці пра палітычныя рэпрэсіі ў Тайвані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Шаноўныя калегі, мой даклад прысвечаны культуры памяці пра палітычныя рэпрэсіі ў Тайвані. Я разгледжу, як досвед дзяржаўнага гвалту становіцца прадметам музейнай працы, грамадскага абмеркавання і мастацкага асэнсавання. Для нашай канферэнцыі гэты прыклад цікавы тым, што дазваляе паглядзець на складаную спадчыну па-за еўрапейскім кантэкстам.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Асноўная думка майго выступу такая: прызнанне ахвяр і стварэнне дзяржаўных устаноў не завяршаюць працу з мінулым. Жывая культура памяці захоўвае магчымасць правяраць афіцыйны расказ, вяртаць адсутныя імёны і ўключаць розныя галасы. Тайваньскі досвед паказвае, як музеі могуць удзельнічаць у гэтым працэсе разам з сем’ямі ахвяр, даследчыкамі і мастакамі.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Крыніцы</a:t>
            </a:r>
          </a:p>
          <a:p xmlns:a="http://schemas.openxmlformats.org/drawingml/2006/main">
            <a:r>
              <a:t>Архіпенка А І. Культура памяці ў Тайвані. Артыкул, пададзены аўтарам.</a:t>
            </a:r>
          </a:p>
          <a:p xmlns:a="http://schemas.openxmlformats.org/drawingml/2006/main">
            <a:r>
              <a:t>Пасля таталітарызму: музей, памяць і беларуская перспектыва. Праграма канферэнцыі, 8–9 кастрычніка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2. Пытанне і падыход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Мяне цікавіць не толькі гісторыя рэпрэсій, але і тое, хто атрымлівае права расказваць пра іх пасля дэмакратызацыі. На якой падставе музей выбірае гісторыі? Як суадносяцца дзяржаўны дакумент і сямейнае сведчанне? Што адбываецца з памяццю, калі яе носьбіты маюць розныя палітычныя перакананні?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Даследаванне абапіраецца на навуковую літаратуру, афіцыйныя дакументы і матэрыялы інстытутаў памяці. Яно таксама ўключае мае палявыя назіранні ў Тайбэі, Тайчжуне і Гаосюне. Іншыя месцы разглядаюцца пераважна паводле адкрытых крыніц. Гэта важнае адрозненне: я не прыпісваю сабе непасрэднае наведванне ўсіх згаданых мемарыялаў.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Метадалагічна я карыстаюся падыходамі даследаванняў калектыўнай памяці і пераходнага правасуддзя. Матэрыял дазваляе абмяркоўваць сувязь памяці з дэмакратычнай ідэнтычнасцю, але не даказвае, што музейная палітыка сама па сабе змяняе нацыянальную самаідэнтыфікацыю.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Крыніцы</a:t>
            </a:r>
          </a:p>
          <a:p xmlns:a="http://schemas.openxmlformats.org/drawingml/2006/main">
            <a:r>
              <a:t>Артыкул аўтара, Уводзіны і Заключэнне.</a:t>
            </a:r>
          </a:p>
          <a:p xmlns:a="http://schemas.openxmlformats.org/drawingml/2006/main">
            <a:r>
              <a:t>Halbwachs, Maurice. On Collective Memory. 1992.</a:t>
            </a:r>
          </a:p>
          <a:p xmlns:a="http://schemas.openxmlformats.org/drawingml/2006/main">
            <a:r>
              <a:t>Nora, Pierre. Between Memory and History. 1989.</a:t>
            </a:r>
          </a:p>
          <a:p xmlns:a="http://schemas.openxmlformats.org/drawingml/2006/main">
            <a:r>
              <a:t>Teitel, Ruti G. Transitional Justice. 2000.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3. Гістарычны кантэкст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Каротка акрэслю гістарычны кантэкст. Назва Інцыдэнт 228 паходзіць ад даты: дваццаць восьмага лютага тысяча дзевяцьсот сорак сёмага года. Пратэсты пачаліся пасля гвалту супрацоўнікаў тытунёвай манаполіі ў Тайбэі і пашырыліся на іншыя гарады. Улады адказалі ваеннай сілай. Падаўленне суправаджалася арыштамі і пазасудовымі забойствамі.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Белы тэрор абазначае больш працяглую сістэму палітычнага пераследу. Яго звычайна датуюць тысяча дзевяцьсот сорак дзявятым — тысяча дзевяцьсот восемдзесят сёмым гадамі, звязваючы з перыядам ваеннага становішча. Пры гэтым межы ў даследаваннях могуць адрознівацца, а скасаванне ваеннага становішча не азначала імгненнага знікнення ўсіх механізмаў кантролю.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Пасля дэмакратызацыі пачаліся публічныя расследаванні, прабачэнні і стварэнне мемарыяльных устаноў. У тысяча дзевяцьсот дзевяноста пятым годзе прэзідэнт Лі Дэнхуэй прынёс афіцыйныя прабачэнні. У тысяча дзевяцьсот дзевяноста сёмым годзе дваццаць восьмае лютага стала дзяржаўным памятным днём.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Крыніцы</a:t>
            </a:r>
          </a:p>
          <a:p xmlns:a="http://schemas.openxmlformats.org/drawingml/2006/main">
            <a:r>
              <a:t>Артыкул аўтара, раздзелы 1 і 2.</a:t>
            </a:r>
          </a:p>
          <a:p xmlns:a="http://schemas.openxmlformats.org/drawingml/2006/main">
            <a:r>
              <a:t>https://www.228.org.tw/228incident-summary</a:t>
            </a:r>
          </a:p>
          <a:p xmlns:a="http://schemas.openxmlformats.org/drawingml/2006/main">
            <a:r>
              <a:t>https://aam.ly.gov.tw/P000051_03.do/387</a:t>
            </a:r>
          </a:p>
          <a:p xmlns:a="http://schemas.openxmlformats.org/drawingml/2006/main">
            <a:r>
              <a:t>Stolojan, Vladimir. Transitional Justice and Collective Memory in Taiwan. China Perspectives 2017/2, 27–35.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4. Дзве траекторыі памяці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 цэнтры даследавання — дзве звязаныя, але розныя траекторыі памяці. Інцыдэнт 228 мае выразную дату, якая дазваляе штогод арганізоўваць ушанаванне. Вакол яе сфарміраваліся мемарыяльны фонд, помнікі і музейная сетка. Гэта спрыяла ператварэнню падзеі ў адзін з цэнтральных сімвалаў пасляваеннай гісторыі Тайваня.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Памяць пра Белы тэрор больш фрагментаваная. Рэпрэсіі працягваліся дзесяцігоддзямі і закраналі людзей з рознымі поглядамі: левых, прыхільнікаў незалежнасці, студэнтаў, вайскоўцаў і людзей, асуджаных паводле даносаў. Агульны досвед пераследу не азначаў агульнага бачання палітычнай будучыні.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Таму прызнаць чалавека ахвярай не азначае прыпісаць яму пазнейшую афіцыйную ідэнтычнасць. Для музея гэта прынцыпова: трэба паказваць адрозненні паміж пацярпелымі і не аднаўляць стыгму, якую стварала рэпрэсіўная ўлада. Памяць пра Белы тэрор патрабуе працы з асобнымі біяграфіямі і справамі.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Крыніцы</a:t>
            </a:r>
          </a:p>
          <a:p xmlns:a="http://schemas.openxmlformats.org/drawingml/2006/main">
            <a:r>
              <a:t>Артыкул аўтара, раздзел 2.</a:t>
            </a:r>
          </a:p>
          <a:p xmlns:a="http://schemas.openxmlformats.org/drawingml/2006/main">
            <a:r>
              <a:t>Stolojan, Vladimir. Transitional Justice and Collective Memory in Taiwan. China Perspectives 2017/2, 27–35.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5. Памяць у гарадской прасторы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Мемарыяльны парк міру 228 у Тайбэі паказвае, як памяць уваходзіць у штодзённую гарадскую прастору. Помнік і музей знаходзяцца ў цэнтры горада. Гэта робіць рэпрэсіўнае мінулае бачным па-за спецыяльнай памятнай цырымоніяй.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Для музейнай практыкі важная сама лакалізацыя. Ахвяры вяртаюцца ў публічную прастору, з якой іх раней выключылі. Месца становіцца даступным для школьнай экскурсіі, даследчыка і выпадковага мінака. Так дзяржаўнае прызнанне атрымлівае матэрыяльную форму і можа стаць нагодай для размовы паміж пакаленнямі.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Аднак наяўнасць помніка яшчэ не сведчыць, што ўсе гісторыі пачутыя. Пытанне пра тое, чые імёны ўключаныя і хто ўдзельнічае ў інтэрпрэтацыі, застаецца адкрытым.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Крыніцы</a:t>
            </a:r>
          </a:p>
          <a:p xmlns:a="http://schemas.openxmlformats.org/drawingml/2006/main">
            <a:r>
              <a:t>Артыкул аўтара, раздзел 3.</a:t>
            </a:r>
          </a:p>
          <a:p xmlns:a="http://schemas.openxmlformats.org/drawingml/2006/main">
            <a:r>
              <a:t>https://culture.gov.taipei/cp.aspx?n=77F675B56F30587A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6. Музейная сетка 228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Музейная сетка памяці пра 228 уключае ўстановы рознага маштабу. Першы спецыялізаваны музей адкрыўся ў Дзяі ў тысяча дзевяцьсот дзевяноста шостым годзе. Тайбэйскі музей пачаў працу праз год, а Нацыянальны мемарыяльны музей — у дзве тысячы адзінаццатым.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Такую сетку нельга зводзіць да паўтарэння адной экспазіцыі ў розных гарадах. Лакальны музей можа вярнуць імёны, канкрэтныя вуліцы і гісторыі сем’яў, якія губляюцца ў агульным аглядзе. Нацыянальная ўстанова, у сваю чаргу, дапамагае звязаць гэтыя гісторыі і зрабіць іх бачнымі для шырэйшай аўдыторыі.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Падчас наведвання Нацыянальнага музея маю ўвагу прыцягнула карта мемарыяльных аб’ектаў. Яна прадстаўляе памяць як геаграфічную сетку. Важна, што такая сетка ўключае розныя тыпы месцаў, а не толькі асобныя манументы.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Крыніцы</a:t>
            </a:r>
          </a:p>
          <a:p xmlns:a="http://schemas.openxmlformats.org/drawingml/2006/main">
            <a:r>
              <a:t>Артыкул аўтара, раздзелы 3.1 і 3.2.</a:t>
            </a:r>
          </a:p>
          <a:p xmlns:a="http://schemas.openxmlformats.org/drawingml/2006/main">
            <a:r>
              <a:t>https://www.228.org.tw/introduction-to-the-memorial-museum</a:t>
            </a:r>
          </a:p>
          <a:p xmlns:a="http://schemas.openxmlformats.org/drawingml/2006/main">
            <a:r>
              <a:t>https://www.228.org.tw/monument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7. Месцы зняволення як музеі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Для Белага тэрору асаблівае значэнне маюць захаваныя месцы зняволення. Нацыянальны музей правоў чалавека аб’ядноўвае мемарыяльныя паркі Дзінмэй і Зялёнага вострава. Гэта іншая музейная мадэль: экспанатам становіцца сама прастора, у якой дзейнічала рэпрэсіўная сістэма.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Сцены, камеры і маршруты перамяшчэння вязняў надаюць канкрэтнасць паняццям палітычнага працэсу і дзяржаўнага кантролю. Пры гэтым матэрыяльнае месца не гаворыць само за сябе. Яго трэба звязаць з дакументамі і сведчаннямі, каб наведвальнік бачыў людзей, а не толькі архітэктуру турмы.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Гэтыя комплексы не варта называць яшчэ двума музеямі 228. Яны прадстаўляюць самастойную інфраструктуру памяці пра Белы тэрор. Абедзве сеткі перасякаюцца ў мове правоў чалавека, але захоўваюць розныя гістарычныя прадметы. Для параўнання з беларускім досведам гэта важны прыклад захавання месцаў палітычнага гвалту.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Крыніцы</a:t>
            </a:r>
          </a:p>
          <a:p xmlns:a="http://schemas.openxmlformats.org/drawingml/2006/main">
            <a:r>
              <a:t>Артыкул аўтара, раздзел 3.2.</a:t>
            </a:r>
          </a:p>
          <a:p xmlns:a="http://schemas.openxmlformats.org/drawingml/2006/main">
            <a:r>
              <a:t>https://www.nhrm.gov.tw/w/nhrmEN/Forming</a:t>
            </a:r>
          </a:p>
          <a:p xmlns:a="http://schemas.openxmlformats.org/drawingml/2006/main">
            <a:r>
              <a:t>https://www.nhrm.gov.tw/w/nhrmEN/Jing_Mei_Overview</a:t>
            </a:r>
          </a:p>
          <a:p xmlns:a="http://schemas.openxmlformats.org/drawingml/2006/main">
            <a:r>
              <a:t>https://www.nhrm.gov.tw/w/nhrmEN/GreenIsland_Overview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8. Архівы і права на веданне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Музейны расказ патрабуе дакументальнай асновы. У Тайвані адкрыццё палітычных архіваў стала працяглай барацьбой за доступ да сведчанняў дзяржаўнага гвалту. Закон аб пераходным правасуддзі і спецыяльны закон аб палітычных архівах стварылі механізмы выяўлення і перадачы дакументаў. Але іх прыняцце не ліквідавала супраціву органаў бяспекі і спрэчак пра партыйныя архівы Гаміньдана.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Паводле паведамлення Нацыянальных архіваў, у дзве тысячы дваццаць шостым годзе онлайн было даступна больш за два мільёны сто тысяч старонак знеасобленых выяў палітычных дакументаў. Гэта істотнае пашырэнне доступу, але рассакрэчванне, перадача, апісанне і фактычная даступнасць — розныя стадыі.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Ёсць і этычная праблема. Справа палітычнага назірання ўтрымлівае чужыя ацэнкі, памылкі і інтымныя звесткі, сабраныя без згоды чалавека. Таму адкрыты дакумент нельга прымаць за канчатковую ісціну. Яго трэба супастаўляць з іншымі крыніцамі, а публікацыю арганізоўваць так, каб яна не прычыняла ахвяры паўторнай шкоды.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Крыніцы</a:t>
            </a:r>
          </a:p>
          <a:p xmlns:a="http://schemas.openxmlformats.org/drawingml/2006/main">
            <a:r>
              <a:t>Артыкул аўтара, раздзел 4.</a:t>
            </a:r>
          </a:p>
          <a:p xmlns:a="http://schemas.openxmlformats.org/drawingml/2006/main">
            <a:r>
              <a:t>https://www.archives.gov.tw/tw/arctw/236-13527.html</a:t>
            </a:r>
          </a:p>
          <a:p xmlns:a="http://schemas.openxmlformats.org/drawingml/2006/main">
            <a:r>
              <a:t>https://law.moj.gov.tw/ENG/LawClass/LawAll.aspx?pcode=A0030296</a:t>
            </a:r>
          </a:p>
          <a:p xmlns:a="http://schemas.openxmlformats.org/drawingml/2006/main">
            <a:r>
              <a:t>https://www.archives.gov.tw/tw/arctw/273.html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9. Лакальная памяць у Пулі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гэтым здымку — помнік бітве пры Уньюлані ў Пулі, у павеце Наньтоу. Яго значэнне для майго даклада ў тым, што агульная гісторыя 228 атрымлівае канкрэтную лакальную прывязку.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Нацыянальны сімвал складаецца з мноства розных месцаў і досведаў. Памяць пра асобны эпізод можа быць асабліва важнай для мясцовай супольнасці, нават калі ён мала вядомы замежнаму наведвальніку. Для музея задача заключаецца ў тым, каб патлумачыць сувязь гэтага месца з агульнай гісторыяй і пры гэтым захаваць яго адметнасць. Фатаграфія тут паказвае форму мемарыялізацыі, але сама па сабе не замяняе даследавання падзеі.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Крыніцы</a:t>
            </a:r>
          </a:p>
          <a:p xmlns:a="http://schemas.openxmlformats.org/drawingml/2006/main">
            <a:r>
              <a:t>Артыкул аўтара, раздзел 3.1, табліца 1.</a:t>
            </a:r>
          </a:p>
          <a:p xmlns:a="http://schemas.openxmlformats.org/drawingml/2006/main">
            <a:r>
              <a:t>https://www.228.org.tw/monument</a:t>
            </a:r>
          </a:p>
          <a:p xmlns:a="http://schemas.openxmlformats.org/drawingml/2006/main">
            <a:r>
              <a:t>Фатаграфія з прэзентацыі аўтара taiwan_memory_BE_EN.pptx, слайд 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10. Выстава «Расколіны і святло»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Наступныя здымкі паказваюць музейнае прадстаўленне гісторыі Гаосюна. Выстава «Расколіны і святло» звязвае Інцыдэнт 228, Белы тэрор і Інцыдэнт Мэйлідао ў лакальным расказе пра дэмакратызацыю.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Такі падыход дазваляе разглядаць горад як прастору гістарычных сувязяў. Розныя падзеі маюць свае даты і ўдзельнікаў, але іх наступствы працягваюць існаваць у гарадскім ландшафце. Пры гэтым паслядоўнасць выставы не павінна ствараць уражанне, што дэмакратыя была загадзя вызначаным вынікам. Варта бачыць супраціў, няўдачы і выбары людзей, якія дзейнічалі ў канкрэтных абставінах. Менавіта гэта робіць лакальную экспазіцыю карыснай для параўнальнай размовы пра складаную спадчыну.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Крыніцы</a:t>
            </a:r>
          </a:p>
          <a:p xmlns:a="http://schemas.openxmlformats.org/drawingml/2006/main">
            <a:r>
              <a:t>Фатаграфія і ідэнтыфікацыя выставы ў прэзентацыі аўтара, слайд 13.</a:t>
            </a:r>
          </a:p>
          <a:p xmlns:a="http://schemas.openxmlformats.org/drawingml/2006/main">
            <a:r>
              <a:t>Артыкул аўтара, раздзелы 3 і 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11. Шлях да прызнання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Гэты стэнд прадстаўляе этап афіцыйнага прызнання ў першай палове дзевяностых гадоў. Расследаванне, прабачэнні і кампенсацыйны механізм змянілі статус тэмы: тое, што раней было небяспечным сямейным успамінам, стала прадметам дзяржаўнай адказнасці.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Для музейнага расказу важна паказваць, што гэты паварот меў сваю перадгісторыю. Ён стаў магчымым дзякуючы шматгадовай працы сем’яў, дыяспары і грамадскіх рухаў. Калі пачынаць гісторыю толькі з рашэння дзяржавы, гэтыя ўдзельнікі могуць знікнуць з экспазіцыі. Таму побач з афіцыйным дакументам патрэбна гісторыя патрабавання, якое прымусіла ўладу прызнаць мінулы гвалт.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Крыніцы</a:t>
            </a:r>
          </a:p>
          <a:p xmlns:a="http://schemas.openxmlformats.org/drawingml/2006/main">
            <a:r>
              <a:t>Артыкул аўтара, раздзел 2.1.</a:t>
            </a:r>
          </a:p>
          <a:p xmlns:a="http://schemas.openxmlformats.org/drawingml/2006/main">
            <a:r>
              <a:t>https://www.228.org.tw/228incident-summary</a:t>
            </a:r>
          </a:p>
          <a:p xmlns:a="http://schemas.openxmlformats.org/drawingml/2006/main">
            <a:r>
              <a:t>Фатаграфія з прэзентацыі аўтара, слайд 14.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12. Падаўленне 1947 года ў Гаосюне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наступным стэндзе гісторыя падаўлення паказана праз карту і дакументы. Гэта дае наведвальніку магчымасць суаднесці абстрактнае апісанне рэпрэсій з канкрэтнай гарадской прасторай.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Карта маршрутаў войскаў дапамагае паставіць пытанне пра механізм гвалту: дзе ён адбываўся і як арганізоўваўся. Але ў музейнай інтэрпрэтацыі неабходна пазначаць паходжанне дакумента і мову, якой карысталася ўлада. Адміністрацыйныя назвы могуць хаваць прымус. Задача даследчыка і куратара — растлумачыць гэты кантэкст і не перанесці рэпрэсіўную ацэнку чалавека ў сучасны музейны подпіс.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Крыніцы</a:t>
            </a:r>
          </a:p>
          <a:p xmlns:a="http://schemas.openxmlformats.org/drawingml/2006/main">
            <a:r>
              <a:t>Фатаграфія і подпіс у прэзентацыі аўтара, слайд 15.</a:t>
            </a:r>
          </a:p>
          <a:p xmlns:a="http://schemas.openxmlformats.org/drawingml/2006/main">
            <a:r>
              <a:t>Артыкул аўтара, раздзелы 1 і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13. Кветкі свабоды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Выстава «Кветкі свабоды» знаходзіцца ў мемарыяльным зале Чан Кайшы ў Тайбэі. Яна адкрылася дваццаць чацвёртага лістапада дзве тысячы дваццаць пятага года і прысвечана шляху да свабоды і правоў чалавека.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Тут асабліва выразна бачная праблема складанай спадчыны. Прастора, створаная для ўшанавання палітычнага лідара, змяшчае крытычны расказ пра аўтарытарызм і барацьбу за свабоду слова. Такое суседства не ліквідуе супярэчнасць. Яно дазваляе зрабіць яе прадметам музейнай размовы.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Для мяне гэты прыклад важны як магчымасць пераасэнсоўваць ужо існуючую інфраструктуру. Змена экспазіцыі не абавязкова азначае поўнае знікненне ранейшага сімвала. Таму трэба аналізаваць, як наведвальнік разумее адносіны паміж ушанаваннем лідара і сведчаннямі людзей, якія пацярпелі ад яго рэжыму.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Крыніцы</a:t>
            </a:r>
          </a:p>
          <a:p xmlns:a="http://schemas.openxmlformats.org/drawingml/2006/main">
            <a:r>
              <a:t>https://www.cksmh.gov.tw/cp.aspx?n=9398</a:t>
            </a:r>
          </a:p>
          <a:p xmlns:a="http://schemas.openxmlformats.org/drawingml/2006/main">
            <a:r>
              <a:t>https://www.cksmh.gov.tw/News_Photo_Content.aspx?n=6105&amp;s=247422</a:t>
            </a:r>
          </a:p>
          <a:p xmlns:a="http://schemas.openxmlformats.org/drawingml/2006/main">
            <a:r>
              <a:t>Артыкул аўтара, раздзел 3 і Заключэнне.</a:t>
            </a:r>
          </a:p>
          <a:p xmlns:a="http://schemas.openxmlformats.org/drawingml/2006/main">
            <a:r>
              <a:t>Фатаграфіі з прэзентацыі аўтара, слайд 17.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14. Каўчэг дэмакратыі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Выстава «Каўчэг дэмакратыі» ў Прэзідэнцкім упраўленні паказвае іншую форму публічнай рэпрэзентацыі. Тут дэмакратыя прадстаўлена ў даступнай, візуальна выразнай мове.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Для даследавання памяці гэта прыклад таго, як гісторыя палітычных змен уваходзіць у самапрадстаўленне сучаснай дзяржавы. Пры гэтым такую экспазіцыю варта адрозніваць ад музея ахвяр рэпрэсій. Яе функцыя шырэйшая: прадставіць краіну і яе каштоўнасці наведвальніку. Гэта адрозненне дапамагае не змешваць мемарыялізацыю гвалту з афіцыйным расказам пра дасягненні дэмакратыі.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Крыніцы</a:t>
            </a:r>
          </a:p>
          <a:p xmlns:a="http://schemas.openxmlformats.org/drawingml/2006/main">
            <a:r>
              <a:t>https://www.president.gov.tw/NEWS/28801</a:t>
            </a:r>
          </a:p>
          <a:p xmlns:a="http://schemas.openxmlformats.org/drawingml/2006/main">
            <a:r>
              <a:t>Фатаграфія з прэзентацыі аўтара, слайд 18.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15. Музей дэмакратычных момантаў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здымку — дарога да Музея дэмакратычных момантаў у Вуфэне, у Тайчжуне, на тэрыторыі былога правінцыяльнага сходу. Тут прадметам пераасэнсавання становіцца палітычная прастора і яе месца ў гісторыі дэмакратызацыі.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Гэты прыклад пашырае разуменне складанай спадчыны. Яна ахоплівае не толькі турмы і месцы масавага гвалту, але і будынкі ўлады, у якіх дзейнічалі палітычныя інстытуты. Музей можа паказваць, як змяняліся прадстаўніцтва і адносіны паміж грамадствам і дзяржавай. Так гісторыя рэпрэсій атрымлівае сувязь з гісторыяй палітычнай трансфармацыі, захоўваючы свой асобны прадмет.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Крыніцы</a:t>
            </a:r>
          </a:p>
          <a:p xmlns:a="http://schemas.openxmlformats.org/drawingml/2006/main">
            <a:r>
              <a:t>Ідэнтыфікацыя месца карыстальнікам і фатаграфія ў прэзентацыі аўтара, слайд 19.</a:t>
            </a:r>
          </a:p>
          <a:p xmlns:a="http://schemas.openxmlformats.org/drawingml/2006/main">
            <a:r>
              <a:t>Артыкул аўтара, палявыя назіранні ў Тайчжуне.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16. Літаратура і кіно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Цяпер перайду да мастацтва. У тайваньскай культуры памяці яно выступае самастойным спосабам асэнсавання мінулага. Музей можа растлумачыць храналогію, а мастацкі твор дазваляе ўбачыць, як дзяржаўны гвалт змяняе сямейныя адносіны і працягвае дзейнічаць пасля заканчэння рэпрэсій.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Фільм Хоу Сяосяня «Горад смутку», які выйшаў у тысяча дзевяцьсот восемдзесят дзявятым годзе, прадстаўляе Інцыдэнт 228 праз гісторыю сям’і і цяжкасць сведчання. У рамане Шоны Ян Райан «Зялёны востраў» памяць пераходзіць паміж пакаленнямі і праз досвед эміграцыі. Стужка «Люмагоу № 15», вядомая па-англійску як Untold Herstory, звяртаецца да жаночага турэмнага досведу.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Гэтыя творы маюць розную палітычную і мастацкую оптыку. Іх нельга выкарыстоўваць толькі як ілюстрацыі да ўжо гатовага гістарычнага расказу. Важна аналізаваць, чый погляд яны прапануюць, што робяць бачным і што пакідаюць па-за кадрам. Мастацкая пераканаўчасць таксама не адмяняе неабходнасці правяраць гістарычныя сцвярджэнні.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Крыніцы</a:t>
            </a:r>
          </a:p>
          <a:p xmlns:a="http://schemas.openxmlformats.org/drawingml/2006/main">
            <a:r>
              <a:t>Артыкул аўтара, раздзелы 5.1 і 5.2.</a:t>
            </a:r>
          </a:p>
          <a:p xmlns:a="http://schemas.openxmlformats.org/drawingml/2006/main">
            <a:r>
              <a:t>Lin, Sylvia Li-chun. Representing Atrocity in Taiwan. Columbia University Press, 2007.</a:t>
            </a:r>
          </a:p>
          <a:p xmlns:a="http://schemas.openxmlformats.org/drawingml/2006/main">
            <a:r>
              <a:t>Ryan, Shawna Yang. Green Island. Alfred A. Knopf, 2016.</a:t>
            </a:r>
          </a:p>
          <a:p xmlns:a="http://schemas.openxmlformats.org/drawingml/2006/main">
            <a:r>
              <a:t>https://taiwancinema.bamid.gov.tw/EngFilm/EngFilmcontent/?ContentUrl=89296</a:t>
            </a:r>
          </a:p>
          <a:p xmlns:a="http://schemas.openxmlformats.org/drawingml/2006/main">
            <a:r>
              <a:t>Poster: https://filmmovement.com/press/film/a-city-of-sadness</a:t>
            </a:r>
          </a:p>
          <a:p xmlns:a="http://schemas.openxmlformats.org/drawingml/2006/main">
            <a:r>
              <a:t>Poster: https://taiwancinema.bamid.gov.tw/Film/Filmcontent/?ContentUrl=89296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17. Вобраз і публічнае выкананне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Візуальнае мастацтва і музыка даюць іншыя формы працы з памяццю. Ксілаграфія Хуан Жунцаня «Жахлівая праверка», створаная ў тысяча дзевяцьсот сорак сёмым годзе, стала мастацкім водгукам на гвалт Інцыдэнту 228. Тут выява не проста фіксуе падзею, а прапануе яе інтэрпрэтацыю і мову асуджэння.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«Уверцюра 1947 года» Сяо Тайжаня і «Рэквіем 228» Кэ Фанлуна звязваюць памяць з публічным выкананнем. Калі твор гучыць на памятным мерапрыемстве, ушанаванне становіцца сумесным досведам. Памяць перадаецца праз музыку, голас і прысутнасць людзей у адной прасторы.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Тэатр і танец могуць злучаць архіўныя матэрыялы з галасамі сведкаў і целам выканаўцы. Гэтыя формы асабліва цікавыя для музеяў, якія шукаюць спосабы працаваць з траўматычным досведам па-за звычайным тэкставым стэндам. Але эмацыйнае ўздзеянне патрабуе адказнасці: пастаноўка павінна захоўваць годнасць пацярпелых і ясна пазначаць, дзе дакумент, а дзе мастацкае пераасэнсаванне.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Крыніцы</a:t>
            </a:r>
          </a:p>
          <a:p xmlns:a="http://schemas.openxmlformats.org/drawingml/2006/main">
            <a:r>
              <a:t>Артыкул аўтара, раздзелы 5.3 і 5.4.</a:t>
            </a:r>
          </a:p>
          <a:p xmlns:a="http://schemas.openxmlformats.org/drawingml/2006/main">
            <a:r>
              <a:t>https://www1.ihp.sinica.edu.tw/jp/Publications/LegalHistoryStudy/1034/Article/348</a:t>
            </a:r>
          </a:p>
          <a:p xmlns:a="http://schemas.openxmlformats.org/drawingml/2006/main">
            <a:r>
              <a:t>https://ed.arte.gov.tw/ch/content/m_periodical_content_1.aspx?AE_SNID=3180&amp;mytype=2</a:t>
            </a:r>
          </a:p>
          <a:p xmlns:a="http://schemas.openxmlformats.org/drawingml/2006/main">
            <a:r>
              <a:t>https://archive.ncafroc.org.tw/result?id=eaddfb1d718740508bcc35334aa54821</a:t>
            </a:r>
          </a:p>
          <a:p xmlns:a="http://schemas.openxmlformats.org/drawingml/2006/main">
            <a:r>
              <a:t>Reproduction: https://commons.wikimedia.org/wiki/File:228_by_Li_Jun.jpg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18. Інтэрактыўная памяць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Асобна адзначу відэагульні і графічныя раманы. Гульня «Затрыманне», або Detention, выйшла ў дзве тысячы сямнаццатым годзе. Яна змяшчае гульца ў школьную прастору эпохі Белага тэрору, дзе звычайнае жыццё перасякаецца з цэнзурай, даносам і страхам. Пазней з’явіліся фільм і тэлесерыял, таму адзін сюжэт стаў даступным праз некалькі медыя.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Гулец дзейнічае ўнутры сістэмы абмежаванняў: шукае матэрыялы, перамяшчаецца па прасторы і сутыкаецца з наступствамі забаронаў. Гэта адрознівае гульню ад звычайнага прагляду фільма. Аднак інтэрактыўнасць сама па сабе яшчэ не гарантуе гістарычнага разумення.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Графічны раман «Сын Фармозы» прадстаўляе біяграфію палітвязня Цай Куньліня праз паслядоўнасць выяў і тэксту. Для маладой аўдыторыі такія формы могуць стаць пачаткам знаёмства з тэмай і прывесці да музея ці дакументальнай крыніцы. Іх значэнне ў перадачы памяці пакаленню, якое не мае ўласнага досведу ваеннага становішча.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Крыніцы</a:t>
            </a:r>
          </a:p>
          <a:p xmlns:a="http://schemas.openxmlformats.org/drawingml/2006/main">
            <a:r>
              <a:t>Артыкул аўтара, раздзелы 5.4 і 5.5.</a:t>
            </a:r>
          </a:p>
          <a:p xmlns:a="http://schemas.openxmlformats.org/drawingml/2006/main">
            <a:r>
              <a:t>Wu, Chia-Rong. From Detention to Devotion. British Journal of Chinese Studies 12/2, 2022, 46–62. https://doi.org/10.51661/bjocs.v12i2.166</a:t>
            </a:r>
          </a:p>
          <a:p xmlns:a="http://schemas.openxmlformats.org/drawingml/2006/main">
            <a:r>
              <a:t>https://booksfromtaiwan.moc.gov.tw/books_info.php?id=360</a:t>
            </a:r>
          </a:p>
          <a:p xmlns:a="http://schemas.openxmlformats.org/drawingml/2006/main">
            <a:r>
              <a:t>Poster: https://taiwancinema.bamid.gov.tw/EngFilm/EngFilmcontent/?ContentUrl=83503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19. Памяць знізу і грамадскі кантроль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За дзяржаўнымі музеямі стаіць праца людзей, якія захоўвалі памяць яшчэ тады, калі яна была небяспечнай. Сем’і збіралі лісты і фатаграфіі, шукалі месцы пахавання і выпраўлялі імёны. Дыяспара падтрымлівала публічнае ўшанаванне за межамі Тайваня. Былыя палітвязні стваралі арганізацыі і давалі сведчанні.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Гэтая праца працягваецца пасля стварэння дзяржаўных інстытутаў. Вусная гісторыя дапамагае ўбачыць жыццё сям’і пасля арышту, дыскрымінацыю дзяцей і маўчанне паміж пакаленнямі. Грамадскія арганізацыі правяраюць паўнату адкрыцця архіваў, змест экспазіцый і правілы рэабілітацыі.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Але грамадзянская супольнасць не мае аднаго голасу. Розныя групы ахвяр могуць не пагаджацца паміж сабой, і гэта таксама частка прадмета даследавання. Для музея важна стварыць умовы ўдзелу, у якіх сведка не становіцца толькі пастаўшчыком матэрыялу. Яго меркаванне пра спосаб прадстаўлення ўласнай гісторыі таксама павінна быць пачутае.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Крыніцы</a:t>
            </a:r>
          </a:p>
          <a:p xmlns:a="http://schemas.openxmlformats.org/drawingml/2006/main">
            <a:r>
              <a:t>Артыкул аўтара, раздзел 6.</a:t>
            </a:r>
          </a:p>
          <a:p xmlns:a="http://schemas.openxmlformats.org/drawingml/2006/main">
            <a:r>
              <a:t>https://taiwantrc.org/about/</a:t>
            </a:r>
          </a:p>
          <a:p xmlns:a="http://schemas.openxmlformats.org/drawingml/2006/main">
            <a:r>
              <a:t>https://www.nhrm.gov.tw/w/nhrm/News_24051820402205282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Слайд 20. Беларуская перспектыва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 заканчэнне вярнуся да беларускай перспектывы. Тайваньскі досвед не прапануе гатовай мадэлі, якую можна механічна перанесці ў іншую краіну. Ён дапамагае ясней убачыць задачы працы з рэпрэсіўным мінулым.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Першая задача актуальная ўжо сёння: захоўваць сведчанні, дакументы і імёны, пакуль жывыя носьбіты досведу. Тут асаблівая роля належыць сем’ям, незалежным ініцыятывам і дыяспары. Другая задача — звязваць музейную працу з доступам да архіваў і падтрымкай пацярпелых. Адной памятнай даты або камісіі для гэтага недастаткова.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Нарэшце, прызнанне ахвяр не павінна азначаць іх уключэння ў адзін абавязковы палітычны расказ. Розныя перакананні і супярэчлівыя сведчанні патрабуюць даследавання і адкрытага абмеркавання.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У гэтым я бачу галоўнае значэнне тайваньскага прыкладу для нашай канферэнцыі. Музей можа быць месцам ушанавання і адначасова прасторай, дзе грамадства зноў правярае сваё разуменне мінулага. Устойлівасць культуры памяці вызначаецца здольнасцю працягваць гэтую працу. Дзякуй за ўвагу.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Крыніцы</a:t>
            </a:r>
          </a:p>
          <a:p xmlns:a="http://schemas.openxmlformats.org/drawingml/2006/main">
            <a:r>
              <a:t>Артыкул аўтара, Заключэнне.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82924feb054bf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2b71c310d584660" /><Relationship Type="http://schemas.openxmlformats.org/officeDocument/2006/relationships/slideLayout" Target="/ppt/slideLayouts/slideLayout1.xml" Id="R71de61a855f24cd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1de61a855f24cd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1a36f001204bec" /><Relationship Type="http://schemas.openxmlformats.org/officeDocument/2006/relationships/image" Target="/ppt/media/image.png" Id="R2bb48d5f6050464b" /><Relationship Type="http://schemas.openxmlformats.org/officeDocument/2006/relationships/notesSlide" Target="/ppt/notesSlides/notesSlide1.xml" Id="R58b5e71879864ec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7021e73b7a470b" /><Relationship Type="http://schemas.openxmlformats.org/officeDocument/2006/relationships/image" Target="/ppt/media/image2.png" Id="R8f9c4641d29e42ab" /><Relationship Type="http://schemas.openxmlformats.org/officeDocument/2006/relationships/notesSlide" Target="/ppt/notesSlides/notesSlide2.xml" Id="Rf1bc225bb8f3403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d9d072f19e4248" /><Relationship Type="http://schemas.openxmlformats.org/officeDocument/2006/relationships/image" Target="/ppt/media/image3.png" Id="R4c1cecd7ee8c4ce9" /><Relationship Type="http://schemas.openxmlformats.org/officeDocument/2006/relationships/notesSlide" Target="/ppt/notesSlides/notesSlide3.xml" Id="R9226c04d33bb4c3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adbab36ecf4960" /><Relationship Type="http://schemas.openxmlformats.org/officeDocument/2006/relationships/image" Target="/ppt/media/image4.png" Id="R8976adc15ea64c0d" /><Relationship Type="http://schemas.openxmlformats.org/officeDocument/2006/relationships/notesSlide" Target="/ppt/notesSlides/notesSlide4.xml" Id="Rb5b55988f9e2474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1fbbef01094439" /><Relationship Type="http://schemas.openxmlformats.org/officeDocument/2006/relationships/image" Target="/ppt/media/image.jpeg" Id="Rcadb2656c85840e2" /><Relationship Type="http://schemas.openxmlformats.org/officeDocument/2006/relationships/image" Target="/ppt/media/image2.jpeg" Id="Rdbc4ad2a14944e30" /><Relationship Type="http://schemas.openxmlformats.org/officeDocument/2006/relationships/image" Target="/ppt/media/image5.png" Id="Raa5c6782d0c24403" /><Relationship Type="http://schemas.openxmlformats.org/officeDocument/2006/relationships/notesSlide" Target="/ppt/notesSlides/notesSlide5.xml" Id="R99c12af6b9b64a0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faa6da799446dc" /><Relationship Type="http://schemas.openxmlformats.org/officeDocument/2006/relationships/image" Target="/ppt/media/image3.jpeg" Id="R1d9bc142b1c94aea" /><Relationship Type="http://schemas.openxmlformats.org/officeDocument/2006/relationships/image" Target="/ppt/media/image6.png" Id="R43ffdfcbffd8472b" /><Relationship Type="http://schemas.openxmlformats.org/officeDocument/2006/relationships/notesSlide" Target="/ppt/notesSlides/notesSlide6.xml" Id="Rd6306f951c8c4a9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a0a0617e304570" /><Relationship Type="http://schemas.openxmlformats.org/officeDocument/2006/relationships/image" Target="/ppt/media/image4.jpeg" Id="R26869fe5258941aa" /><Relationship Type="http://schemas.openxmlformats.org/officeDocument/2006/relationships/image" Target="/ppt/media/image5.jpeg" Id="R0a855450b0354df7" /><Relationship Type="http://schemas.openxmlformats.org/officeDocument/2006/relationships/image" Target="/ppt/media/image6.jpeg" Id="R8ee816ce0cad4d7d" /><Relationship Type="http://schemas.openxmlformats.org/officeDocument/2006/relationships/image" Target="/ppt/media/image7.jpeg" Id="R9f67898df1ec410a" /><Relationship Type="http://schemas.openxmlformats.org/officeDocument/2006/relationships/image" Target="/ppt/media/image7.png" Id="Rb9a9928eab6c48fe" /><Relationship Type="http://schemas.openxmlformats.org/officeDocument/2006/relationships/notesSlide" Target="/ppt/notesSlides/notesSlide7.xml" Id="R09472c9bf81e4a0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d3ed1cd5654010" /><Relationship Type="http://schemas.openxmlformats.org/officeDocument/2006/relationships/image" Target="/ppt/media/image8.jpeg" Id="Rfe001b0fb51d4400" /><Relationship Type="http://schemas.openxmlformats.org/officeDocument/2006/relationships/image" Target="/ppt/media/image8.png" Id="R734465a5672d4b21" /><Relationship Type="http://schemas.openxmlformats.org/officeDocument/2006/relationships/notesSlide" Target="/ppt/notesSlides/notesSlide8.xml" Id="R28cc56c2bcf7493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de2e19bcf94ee7" /><Relationship Type="http://schemas.openxmlformats.org/officeDocument/2006/relationships/image" Target="/ppt/media/image9.jpeg" Id="R57fee926816844bb" /><Relationship Type="http://schemas.openxmlformats.org/officeDocument/2006/relationships/image" Target="/ppt/media/image9.png" Id="Rcfbc3bc56f524806" /><Relationship Type="http://schemas.openxmlformats.org/officeDocument/2006/relationships/notesSlide" Target="/ppt/notesSlides/notesSlide9.xml" Id="R839872352330498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b9a598f6564ca1" /><Relationship Type="http://schemas.openxmlformats.org/officeDocument/2006/relationships/image" Target="/ppt/media/image10.jpeg" Id="Re3fcb1d83a9f4c71" /><Relationship Type="http://schemas.openxmlformats.org/officeDocument/2006/relationships/image" Target="/ppt/media/image10.png" Id="Rb0877a1d52af4035" /><Relationship Type="http://schemas.openxmlformats.org/officeDocument/2006/relationships/notesSlide" Target="/ppt/notesSlides/notesSlide10.xml" Id="Ref9a7450d14a420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a87b8a00f14498" /><Relationship Type="http://schemas.openxmlformats.org/officeDocument/2006/relationships/image" Target="/ppt/media/image11.jpeg" Id="R76042d74524c49d6" /><Relationship Type="http://schemas.openxmlformats.org/officeDocument/2006/relationships/image" Target="/ppt/media/image11.png" Id="R29093e612a1a48f7" /><Relationship Type="http://schemas.openxmlformats.org/officeDocument/2006/relationships/notesSlide" Target="/ppt/notesSlides/notesSlide11.xml" Id="R2054906a3466430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676c05092d49e0" /><Relationship Type="http://schemas.openxmlformats.org/officeDocument/2006/relationships/image" Target="/ppt/media/image12.jpeg" Id="Re4c8df766391423b" /><Relationship Type="http://schemas.openxmlformats.org/officeDocument/2006/relationships/image" Target="/ppt/media/image12.png" Id="R2062881f487a485b" /><Relationship Type="http://schemas.openxmlformats.org/officeDocument/2006/relationships/notesSlide" Target="/ppt/notesSlides/notesSlide12.xml" Id="Rc80124ed8b2c414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c75ad61efb458d" /><Relationship Type="http://schemas.openxmlformats.org/officeDocument/2006/relationships/image" Target="/ppt/media/image13.jpeg" Id="Rf944c93cd38849c8" /><Relationship Type="http://schemas.openxmlformats.org/officeDocument/2006/relationships/image" Target="/ppt/media/image14.jpeg" Id="R214e18a1589f4f8e" /><Relationship Type="http://schemas.openxmlformats.org/officeDocument/2006/relationships/image" Target="/ppt/media/image13.png" Id="Ra1fc9ddf7324457d" /><Relationship Type="http://schemas.openxmlformats.org/officeDocument/2006/relationships/notesSlide" Target="/ppt/notesSlides/notesSlide13.xml" Id="R7db5f695edec4b3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203dd142b74f9c" /><Relationship Type="http://schemas.openxmlformats.org/officeDocument/2006/relationships/image" Target="/ppt/media/image15.jpeg" Id="R26adb74cd9ea44f0" /><Relationship Type="http://schemas.openxmlformats.org/officeDocument/2006/relationships/image" Target="/ppt/media/image14.png" Id="R5562e06e34a64032" /><Relationship Type="http://schemas.openxmlformats.org/officeDocument/2006/relationships/notesSlide" Target="/ppt/notesSlides/notesSlide14.xml" Id="R82ea20d3719c4fa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24589a59084519" /><Relationship Type="http://schemas.openxmlformats.org/officeDocument/2006/relationships/image" Target="/ppt/media/image16.jpeg" Id="Rb75b2ef5c7534db8" /><Relationship Type="http://schemas.openxmlformats.org/officeDocument/2006/relationships/image" Target="/ppt/media/image15.png" Id="Rcf009b86f77a459f" /><Relationship Type="http://schemas.openxmlformats.org/officeDocument/2006/relationships/notesSlide" Target="/ppt/notesSlides/notesSlide15.xml" Id="Ref5816c924c744c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ca097f4717412c" /><Relationship Type="http://schemas.openxmlformats.org/officeDocument/2006/relationships/image" Target="/ppt/media/image17.jpeg" Id="R005c44a62ee441bf" /><Relationship Type="http://schemas.openxmlformats.org/officeDocument/2006/relationships/image" Target="/ppt/media/image18.jpeg" Id="Rf0b03da914b049c4" /><Relationship Type="http://schemas.openxmlformats.org/officeDocument/2006/relationships/image" Target="/ppt/media/image16.png" Id="Ra25e725d2aec4a22" /><Relationship Type="http://schemas.openxmlformats.org/officeDocument/2006/relationships/notesSlide" Target="/ppt/notesSlides/notesSlide16.xml" Id="Ree49252173b0459d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159bf6b9ac45b9" /><Relationship Type="http://schemas.openxmlformats.org/officeDocument/2006/relationships/image" Target="/ppt/media/image19.jpeg" Id="R38f47deeef794025" /><Relationship Type="http://schemas.openxmlformats.org/officeDocument/2006/relationships/image" Target="/ppt/media/image17.png" Id="R184d7c0d59d54cc8" /><Relationship Type="http://schemas.openxmlformats.org/officeDocument/2006/relationships/notesSlide" Target="/ppt/notesSlides/notesSlide17.xml" Id="R72bdc2dacd3d4a5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19e121a4634e6d" /><Relationship Type="http://schemas.openxmlformats.org/officeDocument/2006/relationships/image" Target="/ppt/media/image20.jpeg" Id="R411ad27fd5cd498a" /><Relationship Type="http://schemas.openxmlformats.org/officeDocument/2006/relationships/image" Target="/ppt/media/image18.png" Id="Re88aacf58c1e48b2" /><Relationship Type="http://schemas.openxmlformats.org/officeDocument/2006/relationships/notesSlide" Target="/ppt/notesSlides/notesSlide18.xml" Id="Ra7c22c138a4745f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954843f29a4884" /><Relationship Type="http://schemas.openxmlformats.org/officeDocument/2006/relationships/image" Target="/ppt/media/image21.jpeg" Id="Ra6ea0bd6319b4400" /><Relationship Type="http://schemas.openxmlformats.org/officeDocument/2006/relationships/image" Target="/ppt/media/image22.jpeg" Id="R661a034e611141d7" /><Relationship Type="http://schemas.openxmlformats.org/officeDocument/2006/relationships/image" Target="/ppt/media/image19.png" Id="Rdfcadb4d538b4be7" /><Relationship Type="http://schemas.openxmlformats.org/officeDocument/2006/relationships/notesSlide" Target="/ppt/notesSlides/notesSlide19.xml" Id="Rf28872da85f94c2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64f8ce6fba4ffc" /><Relationship Type="http://schemas.openxmlformats.org/officeDocument/2006/relationships/image" Target="/ppt/media/image20.png" Id="Re446fbf4708e4d8c" /><Relationship Type="http://schemas.openxmlformats.org/officeDocument/2006/relationships/notesSlide" Target="/ppt/notesSlides/notesSlide20.xml" Id="R193b4d0f340c442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e-title">
            <a:extLst xmlns:a="http://schemas.openxmlformats.org/drawingml/2006/main">
              <a:ext uri="{FF2B5EF4-FFF2-40B4-BE49-F238E27FC236}">
                <a16:creationId xmlns:a16="http://schemas.microsoft.com/office/drawing/2014/main" id="{3CF26DAE-53A2-4D6A-B58E-FD67C3E99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19125"/>
            <a:ext cx="5753100" cy="1400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Культура памяці пра палітычныя рэпрэсіі ў Тайвані</a:t>
            </a:r>
          </a:p>
        </p:txBody>
      </p:sp>
      <p:sp>
        <p:nvSpPr>
          <p:cNvPr id="2" name="en-title">
            <a:extLst xmlns:a="http://schemas.openxmlformats.org/drawingml/2006/main">
              <a:ext uri="{FF2B5EF4-FFF2-40B4-BE49-F238E27FC236}">
                <a16:creationId xmlns:a16="http://schemas.microsoft.com/office/drawing/2014/main" id="{AE3FB9B6-C6A2-40C5-A18D-A73581016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09800"/>
            <a:ext cx="5619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BB573B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BB573B"/>
                </a:solidFill>
                <a:latin typeface="Arial"/>
                <a:ea typeface="Arial"/>
                <a:cs typeface="Arial"/>
              </a:rPr>
              <a:t>Memory Culture and Political Repression in Taiwan</a:t>
            </a:r>
          </a:p>
        </p:txBody>
      </p:sp>
      <p:sp>
        <p:nvSpPr>
          <p:cNvPr id="3" name="author">
            <a:extLst xmlns:a="http://schemas.openxmlformats.org/drawingml/2006/main">
              <a:ext uri="{FF2B5EF4-FFF2-40B4-BE49-F238E27FC236}">
                <a16:creationId xmlns:a16="http://schemas.microsoft.com/office/drawing/2014/main" id="{390B7BD8-4891-4ACE-8941-018A4AD9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00425"/>
            <a:ext cx="5715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Андрэй Архіпенка / Andrei Arkhipenka</a:t>
            </a:r>
          </a:p>
        </p:txBody>
      </p:sp>
      <p:sp>
        <p:nvSpPr>
          <p:cNvPr id="4" name="affiliation">
            <a:extLst xmlns:a="http://schemas.openxmlformats.org/drawingml/2006/main">
              <a:ext uri="{FF2B5EF4-FFF2-40B4-BE49-F238E27FC236}">
                <a16:creationId xmlns:a16="http://schemas.microsoft.com/office/drawing/2014/main" id="{86338EE1-2DA0-43DB-BF0F-03E3B620B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0950"/>
            <a:ext cx="5715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Belarus–Taiwan and East Asia Platform</a:t>
            </a:r>
          </a:p>
        </p:txBody>
      </p:sp>
      <p:sp>
        <p:nvSpPr>
          <p:cNvPr id="5" name="conference">
            <a:extLst xmlns:a="http://schemas.openxmlformats.org/drawingml/2006/main">
              <a:ext uri="{FF2B5EF4-FFF2-40B4-BE49-F238E27FC236}">
                <a16:creationId xmlns:a16="http://schemas.microsoft.com/office/drawing/2014/main" id="{82316E0D-73AF-45D1-9B05-791E8C29A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05300"/>
            <a:ext cx="7715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Пасля таталітарызму: музей, памяць і беларуская перспектыва</a:t>
            </a:r>
          </a:p>
        </p:txBody>
      </p:sp>
      <p:sp>
        <p:nvSpPr>
          <p:cNvPr id="6" name="conference-date">
            <a:extLst xmlns:a="http://schemas.openxmlformats.org/drawingml/2006/main">
              <a:ext uri="{FF2B5EF4-FFF2-40B4-BE49-F238E27FC236}">
                <a16:creationId xmlns:a16="http://schemas.microsoft.com/office/drawing/2014/main" id="{DA45C4C9-491B-4F91-9797-302855318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Музей Вольнай Беларусі, Варшава / Free Belarus Museum, Warsaw</a:t>
            </a:r>
          </a:p>
          <a:p xmlns:a="http://schemas.openxmlformats.org/drawingml/2006/main">
            <a:pPr>
              <a:defRPr sz="10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8 October 2026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b48d5f6050464b"/>
          <a:stretch xmlns:a="http://schemas.openxmlformats.org/drawingml/2006/main"/>
        </p:blipFill>
        <p:spPr>
          <a:xfrm xmlns:a="http://schemas.openxmlformats.org/drawingml/2006/main">
            <a:off x="6762750" y="1271956"/>
            <a:ext cx="1952625" cy="136133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211385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be-label">
            <a:extLst xmlns:a="http://schemas.openxmlformats.org/drawingml/2006/main">
              <a:ext uri="{FF2B5EF4-FFF2-40B4-BE49-F238E27FC236}">
                <a16:creationId xmlns:a16="http://schemas.microsoft.com/office/drawing/2014/main" id="{042AC1BC-AF6A-48C0-BEEC-DF786E498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52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B573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B573B"/>
                </a:solidFill>
                <a:latin typeface="Arial"/>
                <a:ea typeface="Arial"/>
                <a:cs typeface="Arial"/>
              </a:rPr>
              <a:t>БЕЛ</a:t>
            </a:r>
          </a:p>
        </p:txBody>
      </p:sp>
      <p:sp>
        <p:nvSpPr>
          <p:cNvPr id="2" name="en-label">
            <a:extLst xmlns:a="http://schemas.openxmlformats.org/drawingml/2006/main">
              <a:ext uri="{FF2B5EF4-FFF2-40B4-BE49-F238E27FC236}">
                <a16:creationId xmlns:a16="http://schemas.microsoft.com/office/drawing/2014/main" id="{D10AB73A-1225-4A0D-B0EF-F650ADD7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952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B573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B573B"/>
                </a:solidFill>
                <a:latin typeface="Arial"/>
                <a:ea typeface="Arial"/>
                <a:cs typeface="Arial"/>
              </a:rPr>
              <a:t>ENG</a:t>
            </a:r>
          </a:p>
        </p:txBody>
      </p:sp>
      <p:sp>
        <p:nvSpPr>
          <p:cNvPr id="3" name="be-title">
            <a:extLst xmlns:a="http://schemas.openxmlformats.org/drawingml/2006/main">
              <a:ext uri="{FF2B5EF4-FFF2-40B4-BE49-F238E27FC236}">
                <a16:creationId xmlns:a16="http://schemas.microsoft.com/office/drawing/2014/main" id="{CEE9D7B9-93C4-4763-B8CB-E4C330527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"/>
            <a:ext cx="38385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Пытанне і падыход</a:t>
            </a:r>
          </a:p>
        </p:txBody>
      </p:sp>
      <p:sp>
        <p:nvSpPr>
          <p:cNvPr id="4" name="en-title">
            <a:extLst xmlns:a="http://schemas.openxmlformats.org/drawingml/2006/main">
              <a:ext uri="{FF2B5EF4-FFF2-40B4-BE49-F238E27FC236}">
                <a16:creationId xmlns:a16="http://schemas.microsoft.com/office/drawing/2014/main" id="{41A3A5BE-0495-4115-A2AD-424CB4137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657225"/>
            <a:ext cx="3886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Research Question and Approach</a:t>
            </a:r>
          </a:p>
        </p:txBody>
      </p:sp>
      <p:sp>
        <p:nvSpPr>
          <p:cNvPr id="5" name="be-item-0">
            <a:extLst xmlns:a="http://schemas.openxmlformats.org/drawingml/2006/main">
              <a:ext uri="{FF2B5EF4-FFF2-40B4-BE49-F238E27FC236}">
                <a16:creationId xmlns:a16="http://schemas.microsoft.com/office/drawing/2014/main" id="{1AF47C19-64B5-411B-8076-F066AB0E9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38671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Як рэпрэсіўнае мінулае становіцца публічнай памяццю?</a:t>
            </a:r>
          </a:p>
        </p:txBody>
      </p:sp>
      <p:sp>
        <p:nvSpPr>
          <p:cNvPr id="6" name="en-item-0">
            <a:extLst xmlns:a="http://schemas.openxmlformats.org/drawingml/2006/main">
              <a:ext uri="{FF2B5EF4-FFF2-40B4-BE49-F238E27FC236}">
                <a16:creationId xmlns:a16="http://schemas.microsoft.com/office/drawing/2014/main" id="{D1565E8F-C96F-4969-87DE-0D9EB12C6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676400"/>
            <a:ext cx="3886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How does a repressive past become public memory?</a:t>
            </a:r>
          </a:p>
        </p:txBody>
      </p:sp>
      <p:sp>
        <p:nvSpPr>
          <p:cNvPr id="7" name="be-item-1">
            <a:extLst xmlns:a="http://schemas.openxmlformats.org/drawingml/2006/main">
              <a:ext uri="{FF2B5EF4-FFF2-40B4-BE49-F238E27FC236}">
                <a16:creationId xmlns:a16="http://schemas.microsoft.com/office/drawing/2014/main" id="{F17B7E0A-305A-4E0B-93A7-4666D8DC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71725"/>
            <a:ext cx="38671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Крыніцы: даследаванні, дакументы, музейныя матэрыялы</a:t>
            </a:r>
          </a:p>
        </p:txBody>
      </p:sp>
      <p:sp>
        <p:nvSpPr>
          <p:cNvPr id="8" name="en-item-1">
            <a:extLst xmlns:a="http://schemas.openxmlformats.org/drawingml/2006/main">
              <a:ext uri="{FF2B5EF4-FFF2-40B4-BE49-F238E27FC236}">
                <a16:creationId xmlns:a16="http://schemas.microsoft.com/office/drawing/2014/main" id="{E03B7246-8EC9-43A5-AEB5-23EDE6BA3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371725"/>
            <a:ext cx="3886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Sources: scholarship, documents, museum materials</a:t>
            </a:r>
          </a:p>
        </p:txBody>
      </p:sp>
      <p:sp>
        <p:nvSpPr>
          <p:cNvPr id="9" name="be-item-2">
            <a:extLst xmlns:a="http://schemas.openxmlformats.org/drawingml/2006/main">
              <a:ext uri="{FF2B5EF4-FFF2-40B4-BE49-F238E27FC236}">
                <a16:creationId xmlns:a16="http://schemas.microsoft.com/office/drawing/2014/main" id="{D3E87239-EFF4-469C-B45C-4EEA7F749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67050"/>
            <a:ext cx="38671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Палявыя назіранні: Тайбэй, Тайчжун, Гаосюн</a:t>
            </a:r>
          </a:p>
        </p:txBody>
      </p:sp>
      <p:sp>
        <p:nvSpPr>
          <p:cNvPr id="10" name="en-item-2">
            <a:extLst xmlns:a="http://schemas.openxmlformats.org/drawingml/2006/main">
              <a:ext uri="{FF2B5EF4-FFF2-40B4-BE49-F238E27FC236}">
                <a16:creationId xmlns:a16="http://schemas.microsoft.com/office/drawing/2014/main" id="{B1B125C9-0CE8-4023-90A3-77564EAA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67050"/>
            <a:ext cx="3886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Field observations: Taipei, Taichung, Kaohsiung</a:t>
            </a:r>
          </a:p>
        </p:txBody>
      </p:sp>
      <p:sp>
        <p:nvSpPr>
          <p:cNvPr id="11" name="be-item-3">
            <a:extLst xmlns:a="http://schemas.openxmlformats.org/drawingml/2006/main">
              <a:ext uri="{FF2B5EF4-FFF2-40B4-BE49-F238E27FC236}">
                <a16:creationId xmlns:a16="http://schemas.microsoft.com/office/drawing/2014/main" id="{9E335B84-D3B0-4D65-9729-96B5F95CF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62375"/>
            <a:ext cx="38671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Памяць і ідэнтычнасць: сувязь без простай прычыннасці</a:t>
            </a:r>
          </a:p>
        </p:txBody>
      </p:sp>
      <p:sp>
        <p:nvSpPr>
          <p:cNvPr id="12" name="en-item-3">
            <a:extLst xmlns:a="http://schemas.openxmlformats.org/drawingml/2006/main">
              <a:ext uri="{FF2B5EF4-FFF2-40B4-BE49-F238E27FC236}">
                <a16:creationId xmlns:a16="http://schemas.microsoft.com/office/drawing/2014/main" id="{26F6BF55-A1CC-4477-8B97-8FFE99F42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762375"/>
            <a:ext cx="3886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Memory and identity: a relationship, not a proven causal effect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9c4641d29e42ab"/>
          <a:stretch xmlns:a="http://schemas.openxmlformats.org/drawingml/2006/main"/>
        </p:blipFill>
        <p:spPr>
          <a:xfrm xmlns:a="http://schemas.openxmlformats.org/drawingml/2006/main">
            <a:off x="511127" y="4562475"/>
            <a:ext cx="587471" cy="409575"/>
          </a:xfrm>
          <a:prstGeom xmlns:a="http://schemas.openxmlformats.org/drawingml/2006/main" prst="rect">
            <a:avLst/>
          </a:prstGeom>
        </p:spPr>
      </p:pic>
      <p:sp>
        <p:nvSpPr>
          <p:cNvPr id="1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FACF43C-CDE5-45B2-908F-8FE95BF6B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6577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5887756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be-label">
            <a:extLst xmlns:a="http://schemas.openxmlformats.org/drawingml/2006/main">
              <a:ext uri="{FF2B5EF4-FFF2-40B4-BE49-F238E27FC236}">
                <a16:creationId xmlns:a16="http://schemas.microsoft.com/office/drawing/2014/main" id="{F8370C07-E11F-4086-8C33-E2F117884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52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B573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B573B"/>
                </a:solidFill>
                <a:latin typeface="Arial"/>
                <a:ea typeface="Arial"/>
                <a:cs typeface="Arial"/>
              </a:rPr>
              <a:t>БЕЛ</a:t>
            </a:r>
          </a:p>
        </p:txBody>
      </p:sp>
      <p:sp>
        <p:nvSpPr>
          <p:cNvPr id="2" name="en-label">
            <a:extLst xmlns:a="http://schemas.openxmlformats.org/drawingml/2006/main">
              <a:ext uri="{FF2B5EF4-FFF2-40B4-BE49-F238E27FC236}">
                <a16:creationId xmlns:a16="http://schemas.microsoft.com/office/drawing/2014/main" id="{5D0702B1-6ED4-401C-AC7F-066AD443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952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B573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B573B"/>
                </a:solidFill>
                <a:latin typeface="Arial"/>
                <a:ea typeface="Arial"/>
                <a:cs typeface="Arial"/>
              </a:rPr>
              <a:t>ENG</a:t>
            </a:r>
          </a:p>
        </p:txBody>
      </p:sp>
      <p:sp>
        <p:nvSpPr>
          <p:cNvPr id="3" name="be-title">
            <a:extLst xmlns:a="http://schemas.openxmlformats.org/drawingml/2006/main">
              <a:ext uri="{FF2B5EF4-FFF2-40B4-BE49-F238E27FC236}">
                <a16:creationId xmlns:a16="http://schemas.microsoft.com/office/drawing/2014/main" id="{6C73EA7F-99BE-4A85-AD9B-597103945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"/>
            <a:ext cx="38385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Гістарычны кантэкст</a:t>
            </a:r>
          </a:p>
        </p:txBody>
      </p:sp>
      <p:sp>
        <p:nvSpPr>
          <p:cNvPr id="4" name="en-title">
            <a:extLst xmlns:a="http://schemas.openxmlformats.org/drawingml/2006/main">
              <a:ext uri="{FF2B5EF4-FFF2-40B4-BE49-F238E27FC236}">
                <a16:creationId xmlns:a16="http://schemas.microsoft.com/office/drawing/2014/main" id="{47C1EDB4-D96C-4F7D-85D9-33050AC3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657225"/>
            <a:ext cx="3886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Historical Context</a:t>
            </a:r>
          </a:p>
        </p:txBody>
      </p:sp>
      <p:sp>
        <p:nvSpPr>
          <p:cNvPr id="5" name="be-item-0">
            <a:extLst xmlns:a="http://schemas.openxmlformats.org/drawingml/2006/main">
              <a:ext uri="{FF2B5EF4-FFF2-40B4-BE49-F238E27FC236}">
                <a16:creationId xmlns:a16="http://schemas.microsoft.com/office/drawing/2014/main" id="{C814E4E4-9A8A-4EB6-8B48-7C2EC95C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38671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1947: Інцыдэнт 228 і ваеннае падаўленне</a:t>
            </a:r>
          </a:p>
        </p:txBody>
      </p:sp>
      <p:sp>
        <p:nvSpPr>
          <p:cNvPr id="6" name="en-item-0">
            <a:extLst xmlns:a="http://schemas.openxmlformats.org/drawingml/2006/main">
              <a:ext uri="{FF2B5EF4-FFF2-40B4-BE49-F238E27FC236}">
                <a16:creationId xmlns:a16="http://schemas.microsoft.com/office/drawing/2014/main" id="{5E8C0041-137F-4A5E-8AB6-3E4482B78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676400"/>
            <a:ext cx="3886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1947: the 228 Incident and military suppression</a:t>
            </a:r>
          </a:p>
        </p:txBody>
      </p:sp>
      <p:sp>
        <p:nvSpPr>
          <p:cNvPr id="7" name="be-item-1">
            <a:extLst xmlns:a="http://schemas.openxmlformats.org/drawingml/2006/main">
              <a:ext uri="{FF2B5EF4-FFF2-40B4-BE49-F238E27FC236}">
                <a16:creationId xmlns:a16="http://schemas.microsoft.com/office/drawing/2014/main" id="{DC6D98C7-8FCA-4E9B-A3B2-07DE1CB0F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71725"/>
            <a:ext cx="38671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1949–1987: асноўныя храналагічныя межы Белага тэрору</a:t>
            </a:r>
          </a:p>
        </p:txBody>
      </p:sp>
      <p:sp>
        <p:nvSpPr>
          <p:cNvPr id="8" name="en-item-1">
            <a:extLst xmlns:a="http://schemas.openxmlformats.org/drawingml/2006/main">
              <a:ext uri="{FF2B5EF4-FFF2-40B4-BE49-F238E27FC236}">
                <a16:creationId xmlns:a16="http://schemas.microsoft.com/office/drawing/2014/main" id="{C26CD835-47BA-4EFE-9922-7B296F7E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371725"/>
            <a:ext cx="3886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1949–1987: the conventional period of the White Terror</a:t>
            </a:r>
          </a:p>
        </p:txBody>
      </p:sp>
      <p:sp>
        <p:nvSpPr>
          <p:cNvPr id="9" name="be-item-2">
            <a:extLst xmlns:a="http://schemas.openxmlformats.org/drawingml/2006/main">
              <a:ext uri="{FF2B5EF4-FFF2-40B4-BE49-F238E27FC236}">
                <a16:creationId xmlns:a16="http://schemas.microsoft.com/office/drawing/2014/main" id="{A857F53A-ABF6-4FDF-85BC-12D097209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67050"/>
            <a:ext cx="38671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1987: скасаванне ваеннага становішча</a:t>
            </a:r>
          </a:p>
        </p:txBody>
      </p:sp>
      <p:sp>
        <p:nvSpPr>
          <p:cNvPr id="10" name="en-item-2">
            <a:extLst xmlns:a="http://schemas.openxmlformats.org/drawingml/2006/main">
              <a:ext uri="{FF2B5EF4-FFF2-40B4-BE49-F238E27FC236}">
                <a16:creationId xmlns:a16="http://schemas.microsoft.com/office/drawing/2014/main" id="{6351A257-393C-401A-92A0-9EB089BE5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67050"/>
            <a:ext cx="3886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1987: martial law lifted</a:t>
            </a:r>
          </a:p>
        </p:txBody>
      </p:sp>
      <p:sp>
        <p:nvSpPr>
          <p:cNvPr id="11" name="be-item-3">
            <a:extLst xmlns:a="http://schemas.openxmlformats.org/drawingml/2006/main">
              <a:ext uri="{FF2B5EF4-FFF2-40B4-BE49-F238E27FC236}">
                <a16:creationId xmlns:a16="http://schemas.microsoft.com/office/drawing/2014/main" id="{40D3B5E3-8617-4D3A-8052-E17410E24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62375"/>
            <a:ext cx="38671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1995–1997: прабачэнні, кампенсацыі, памятны дзень 228</a:t>
            </a:r>
          </a:p>
        </p:txBody>
      </p:sp>
      <p:sp>
        <p:nvSpPr>
          <p:cNvPr id="12" name="en-item-3">
            <a:extLst xmlns:a="http://schemas.openxmlformats.org/drawingml/2006/main">
              <a:ext uri="{FF2B5EF4-FFF2-40B4-BE49-F238E27FC236}">
                <a16:creationId xmlns:a16="http://schemas.microsoft.com/office/drawing/2014/main" id="{72E2FD06-A4C9-4E00-9A74-F6266F30C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762375"/>
            <a:ext cx="3886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1995–1997: apology, compensation, 228 memorial day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1cecd7ee8c4ce9"/>
          <a:stretch xmlns:a="http://schemas.openxmlformats.org/drawingml/2006/main"/>
        </p:blipFill>
        <p:spPr>
          <a:xfrm xmlns:a="http://schemas.openxmlformats.org/drawingml/2006/main">
            <a:off x="511127" y="4562475"/>
            <a:ext cx="587471" cy="409575"/>
          </a:xfrm>
          <a:prstGeom xmlns:a="http://schemas.openxmlformats.org/drawingml/2006/main" prst="rect">
            <a:avLst/>
          </a:prstGeom>
        </p:spPr>
      </p:pic>
      <p:sp>
        <p:nvSpPr>
          <p:cNvPr id="1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A14B89CB-A166-4DE9-924E-9E94EF864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6577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479003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be-label">
            <a:extLst xmlns:a="http://schemas.openxmlformats.org/drawingml/2006/main">
              <a:ext uri="{FF2B5EF4-FFF2-40B4-BE49-F238E27FC236}">
                <a16:creationId xmlns:a16="http://schemas.microsoft.com/office/drawing/2014/main" id="{04B7D672-28ED-47B8-B755-DE183ED34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52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B573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B573B"/>
                </a:solidFill>
                <a:latin typeface="Arial"/>
                <a:ea typeface="Arial"/>
                <a:cs typeface="Arial"/>
              </a:rPr>
              <a:t>БЕЛ</a:t>
            </a:r>
          </a:p>
        </p:txBody>
      </p:sp>
      <p:sp>
        <p:nvSpPr>
          <p:cNvPr id="2" name="en-label">
            <a:extLst xmlns:a="http://schemas.openxmlformats.org/drawingml/2006/main">
              <a:ext uri="{FF2B5EF4-FFF2-40B4-BE49-F238E27FC236}">
                <a16:creationId xmlns:a16="http://schemas.microsoft.com/office/drawing/2014/main" id="{5AB14AB7-C0A1-470B-8416-55991CEC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952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B573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B573B"/>
                </a:solidFill>
                <a:latin typeface="Arial"/>
                <a:ea typeface="Arial"/>
                <a:cs typeface="Arial"/>
              </a:rPr>
              <a:t>ENG</a:t>
            </a:r>
          </a:p>
        </p:txBody>
      </p:sp>
      <p:sp>
        <p:nvSpPr>
          <p:cNvPr id="3" name="be-title">
            <a:extLst xmlns:a="http://schemas.openxmlformats.org/drawingml/2006/main">
              <a:ext uri="{FF2B5EF4-FFF2-40B4-BE49-F238E27FC236}">
                <a16:creationId xmlns:a16="http://schemas.microsoft.com/office/drawing/2014/main" id="{5C342122-218C-4A7D-BFC5-E83ED65D9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"/>
            <a:ext cx="38385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Дзве траекторыі памяці</a:t>
            </a:r>
          </a:p>
        </p:txBody>
      </p:sp>
      <p:sp>
        <p:nvSpPr>
          <p:cNvPr id="4" name="en-title">
            <a:extLst xmlns:a="http://schemas.openxmlformats.org/drawingml/2006/main">
              <a:ext uri="{FF2B5EF4-FFF2-40B4-BE49-F238E27FC236}">
                <a16:creationId xmlns:a16="http://schemas.microsoft.com/office/drawing/2014/main" id="{4215009C-5A87-4348-9554-95DA1FFD5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657225"/>
            <a:ext cx="3886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Two Trajectories of Memory</a:t>
            </a:r>
          </a:p>
        </p:txBody>
      </p:sp>
      <p:sp>
        <p:nvSpPr>
          <p:cNvPr id="5" name="be-item-0">
            <a:extLst xmlns:a="http://schemas.openxmlformats.org/drawingml/2006/main">
              <a:ext uri="{FF2B5EF4-FFF2-40B4-BE49-F238E27FC236}">
                <a16:creationId xmlns:a16="http://schemas.microsoft.com/office/drawing/2014/main" id="{AD5DC1EE-F1B7-462C-B036-B6A14A31A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38671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228: падзея 1947 года і штогадовая дата ўшанавання</a:t>
            </a:r>
          </a:p>
        </p:txBody>
      </p:sp>
      <p:sp>
        <p:nvSpPr>
          <p:cNvPr id="6" name="en-item-0">
            <a:extLst xmlns:a="http://schemas.openxmlformats.org/drawingml/2006/main">
              <a:ext uri="{FF2B5EF4-FFF2-40B4-BE49-F238E27FC236}">
                <a16:creationId xmlns:a16="http://schemas.microsoft.com/office/drawing/2014/main" id="{39C44158-E33A-446E-991E-E89406967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676400"/>
            <a:ext cx="3886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228: the events of 1947 and an annual commemoration</a:t>
            </a:r>
          </a:p>
        </p:txBody>
      </p:sp>
      <p:sp>
        <p:nvSpPr>
          <p:cNvPr id="7" name="be-item-1">
            <a:extLst xmlns:a="http://schemas.openxmlformats.org/drawingml/2006/main">
              <a:ext uri="{FF2B5EF4-FFF2-40B4-BE49-F238E27FC236}">
                <a16:creationId xmlns:a16="http://schemas.microsoft.com/office/drawing/2014/main" id="{FF66F3A6-8653-4CAD-9AC6-AB37DBCC9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71725"/>
            <a:ext cx="38671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Прабачэнні, Мемарыяльны фонд 228, сетка музеяў</a:t>
            </a:r>
          </a:p>
        </p:txBody>
      </p:sp>
      <p:sp>
        <p:nvSpPr>
          <p:cNvPr id="8" name="en-item-1">
            <a:extLst xmlns:a="http://schemas.openxmlformats.org/drawingml/2006/main">
              <a:ext uri="{FF2B5EF4-FFF2-40B4-BE49-F238E27FC236}">
                <a16:creationId xmlns:a16="http://schemas.microsoft.com/office/drawing/2014/main" id="{90157C79-8AE7-41BC-BF17-D29E1D80D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371725"/>
            <a:ext cx="3886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Apology, the 228 Memorial Foundation, a museum network</a:t>
            </a:r>
          </a:p>
        </p:txBody>
      </p:sp>
      <p:sp>
        <p:nvSpPr>
          <p:cNvPr id="9" name="be-item-2">
            <a:extLst xmlns:a="http://schemas.openxmlformats.org/drawingml/2006/main">
              <a:ext uri="{FF2B5EF4-FFF2-40B4-BE49-F238E27FC236}">
                <a16:creationId xmlns:a16="http://schemas.microsoft.com/office/drawing/2014/main" id="{DA56F620-B9BE-4191-98C8-6CE26DA93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67050"/>
            <a:ext cx="38671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Белы тэрор: дзесяцігоддзі і розныя групы пацярпелых</a:t>
            </a:r>
          </a:p>
        </p:txBody>
      </p:sp>
      <p:sp>
        <p:nvSpPr>
          <p:cNvPr id="10" name="en-item-2">
            <a:extLst xmlns:a="http://schemas.openxmlformats.org/drawingml/2006/main">
              <a:ext uri="{FF2B5EF4-FFF2-40B4-BE49-F238E27FC236}">
                <a16:creationId xmlns:a16="http://schemas.microsoft.com/office/drawing/2014/main" id="{C4B5C3D5-B1DF-4897-8F29-7EA16DE39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67050"/>
            <a:ext cx="3886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White Terror: decades of repression and diverse victim groups</a:t>
            </a:r>
          </a:p>
        </p:txBody>
      </p:sp>
      <p:sp>
        <p:nvSpPr>
          <p:cNvPr id="11" name="be-item-3">
            <a:extLst xmlns:a="http://schemas.openxmlformats.org/drawingml/2006/main">
              <a:ext uri="{FF2B5EF4-FFF2-40B4-BE49-F238E27FC236}">
                <a16:creationId xmlns:a16="http://schemas.microsoft.com/office/drawing/2014/main" id="{4E3E2718-A000-4C91-9602-D352C1C58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62375"/>
            <a:ext cx="38671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Стыгма і неабходнасць перагляду канкрэтных спраў</a:t>
            </a:r>
          </a:p>
        </p:txBody>
      </p:sp>
      <p:sp>
        <p:nvSpPr>
          <p:cNvPr id="12" name="en-item-3">
            <a:extLst xmlns:a="http://schemas.openxmlformats.org/drawingml/2006/main">
              <a:ext uri="{FF2B5EF4-FFF2-40B4-BE49-F238E27FC236}">
                <a16:creationId xmlns:a16="http://schemas.microsoft.com/office/drawing/2014/main" id="{1F2F9FC4-DEBD-432A-BB7E-50E7661D9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762375"/>
            <a:ext cx="3886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Stigma and the need to review individual cases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76adc15ea64c0d"/>
          <a:stretch xmlns:a="http://schemas.openxmlformats.org/drawingml/2006/main"/>
        </p:blipFill>
        <p:spPr>
          <a:xfrm xmlns:a="http://schemas.openxmlformats.org/drawingml/2006/main">
            <a:off x="511127" y="4562475"/>
            <a:ext cx="587471" cy="409575"/>
          </a:xfrm>
          <a:prstGeom xmlns:a="http://schemas.openxmlformats.org/drawingml/2006/main" prst="rect">
            <a:avLst/>
          </a:prstGeom>
        </p:spPr>
      </p:pic>
      <p:sp>
        <p:nvSpPr>
          <p:cNvPr id="1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6FA1CCC-3742-47A9-A951-FA7A294C4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6577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977287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be-title">
            <a:extLst xmlns:a="http://schemas.openxmlformats.org/drawingml/2006/main">
              <a:ext uri="{FF2B5EF4-FFF2-40B4-BE49-F238E27FC236}">
                <a16:creationId xmlns:a16="http://schemas.microsoft.com/office/drawing/2014/main" id="{477EA4F2-5D7B-4638-8000-1AA8AC3BE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319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Памяць у гарадской прасторы</a:t>
            </a:r>
          </a:p>
        </p:txBody>
      </p:sp>
      <p:sp>
        <p:nvSpPr>
          <p:cNvPr id="2" name="en-title">
            <a:extLst xmlns:a="http://schemas.openxmlformats.org/drawingml/2006/main">
              <a:ext uri="{FF2B5EF4-FFF2-40B4-BE49-F238E27FC236}">
                <a16:creationId xmlns:a16="http://schemas.microsoft.com/office/drawing/2014/main" id="{89C1C7B1-B3D1-4D75-A1A6-722E78552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0175"/>
            <a:ext cx="319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B573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B573B"/>
                </a:solidFill>
                <a:latin typeface="Arial"/>
                <a:ea typeface="Arial"/>
                <a:cs typeface="Arial"/>
              </a:rPr>
              <a:t>Memory in Urban Space</a:t>
            </a:r>
          </a:p>
        </p:txBody>
      </p:sp>
      <p:sp>
        <p:nvSpPr>
          <p:cNvPr id="3" name="be-summary">
            <a:extLst xmlns:a="http://schemas.openxmlformats.org/drawingml/2006/main">
              <a:ext uri="{FF2B5EF4-FFF2-40B4-BE49-F238E27FC236}">
                <a16:creationId xmlns:a16="http://schemas.microsoft.com/office/drawing/2014/main" id="{D88BCCD6-D839-4411-BD1F-D28B96121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47925"/>
            <a:ext cx="31051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Помнік 228 у Тайчжуне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Мемарыялы ў гарадской прасторы</a:t>
            </a:r>
          </a:p>
        </p:txBody>
      </p:sp>
      <p:sp>
        <p:nvSpPr>
          <p:cNvPr id="4" name="en-summary">
            <a:extLst xmlns:a="http://schemas.openxmlformats.org/drawingml/2006/main">
              <a:ext uri="{FF2B5EF4-FFF2-40B4-BE49-F238E27FC236}">
                <a16:creationId xmlns:a16="http://schemas.microsoft.com/office/drawing/2014/main" id="{091B5247-0AF8-4ABB-9AEA-9E14780F6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76650"/>
            <a:ext cx="31051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228 Memorial, Taichung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Memorials in urban space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db2656c85840e2"/>
          <a:stretch xmlns:a="http://schemas.openxmlformats.org/drawingml/2006/main"/>
        </p:blipFill>
        <p:spPr>
          <a:xfrm xmlns:a="http://schemas.openxmlformats.org/drawingml/2006/main">
            <a:off x="3781425" y="822325"/>
            <a:ext cx="2381250" cy="3175000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c4ad2a14944e30"/>
          <a:stretch xmlns:a="http://schemas.openxmlformats.org/drawingml/2006/main"/>
        </p:blipFill>
        <p:spPr>
          <a:xfrm xmlns:a="http://schemas.openxmlformats.org/drawingml/2006/main">
            <a:off x="6305550" y="822325"/>
            <a:ext cx="2381250" cy="3175000"/>
          </a:xfrm>
          <a:prstGeom xmlns:a="http://schemas.openxmlformats.org/drawingml/2006/main" prst="rect">
            <a:avLst/>
          </a:prstGeom>
        </p:spPr>
      </p:pic>
      <p:sp>
        <p:nvSpPr>
          <p:cNvPr id="7" name="taichung-caption">
            <a:extLst xmlns:a="http://schemas.openxmlformats.org/drawingml/2006/main">
              <a:ext uri="{FF2B5EF4-FFF2-40B4-BE49-F238E27FC236}">
                <a16:creationId xmlns:a16="http://schemas.microsoft.com/office/drawing/2014/main" id="{77242346-A715-49C4-B852-49108BD8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57675"/>
            <a:ext cx="2381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Тайчжун / Taichung</a:t>
            </a:r>
          </a:p>
        </p:txBody>
      </p:sp>
      <p:sp>
        <p:nvSpPr>
          <p:cNvPr id="8" name="photo-credit">
            <a:extLst xmlns:a="http://schemas.openxmlformats.org/drawingml/2006/main">
              <a:ext uri="{FF2B5EF4-FFF2-40B4-BE49-F238E27FC236}">
                <a16:creationId xmlns:a16="http://schemas.microsoft.com/office/drawing/2014/main" id="{E7580D1C-CD66-4265-A32E-68D0D6B82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638675"/>
            <a:ext cx="433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Фота аўтара / Author’s photographs</a:t>
            </a:r>
          </a:p>
        </p:txBody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5c6782d0c24403"/>
          <a:stretch xmlns:a="http://schemas.openxmlformats.org/drawingml/2006/main"/>
        </p:blipFill>
        <p:spPr>
          <a:xfrm xmlns:a="http://schemas.openxmlformats.org/drawingml/2006/main">
            <a:off x="511127" y="4562475"/>
            <a:ext cx="587471" cy="409575"/>
          </a:xfrm>
          <a:prstGeom xmlns:a="http://schemas.openxmlformats.org/drawingml/2006/main" prst="rect">
            <a:avLst/>
          </a:prstGeom>
        </p:spPr>
      </p:pic>
      <p:sp>
        <p:nvSpPr>
          <p:cNvPr id="10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A5441D1-0552-488E-B7CB-4C9E5A729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6577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57502082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e-title">
            <a:extLst xmlns:a="http://schemas.openxmlformats.org/drawingml/2006/main">
              <a:ext uri="{FF2B5EF4-FFF2-40B4-BE49-F238E27FC236}">
                <a16:creationId xmlns:a16="http://schemas.microsoft.com/office/drawing/2014/main" id="{3981A746-3F57-44C2-9A25-717CF5136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319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Музейная сетка 228</a:t>
            </a:r>
          </a:p>
        </p:txBody>
      </p:sp>
      <p:sp>
        <p:nvSpPr>
          <p:cNvPr id="2" name="en-title">
            <a:extLst xmlns:a="http://schemas.openxmlformats.org/drawingml/2006/main">
              <a:ext uri="{FF2B5EF4-FFF2-40B4-BE49-F238E27FC236}">
                <a16:creationId xmlns:a16="http://schemas.microsoft.com/office/drawing/2014/main" id="{A130C930-DD56-4408-84CB-C1333EB3F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0175"/>
            <a:ext cx="319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B573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B573B"/>
                </a:solidFill>
                <a:latin typeface="Arial"/>
                <a:ea typeface="Arial"/>
                <a:cs typeface="Arial"/>
              </a:rPr>
              <a:t>The 228 Museum Network</a:t>
            </a:r>
          </a:p>
        </p:txBody>
      </p:sp>
      <p:sp>
        <p:nvSpPr>
          <p:cNvPr id="3" name="be-summary">
            <a:extLst xmlns:a="http://schemas.openxmlformats.org/drawingml/2006/main">
              <a:ext uri="{FF2B5EF4-FFF2-40B4-BE49-F238E27FC236}">
                <a16:creationId xmlns:a16="http://schemas.microsoft.com/office/drawing/2014/main" id="{E3A7AB2D-8EC0-4B95-8E41-001D5826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47925"/>
            <a:ext cx="31051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Нацыянальны мемарыяльны музей 228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Ляо Чыньпін, 1895–1947</a:t>
            </a:r>
          </a:p>
        </p:txBody>
      </p:sp>
      <p:sp>
        <p:nvSpPr>
          <p:cNvPr id="4" name="en-summary">
            <a:extLst xmlns:a="http://schemas.openxmlformats.org/drawingml/2006/main">
              <a:ext uri="{FF2B5EF4-FFF2-40B4-BE49-F238E27FC236}">
                <a16:creationId xmlns:a16="http://schemas.microsoft.com/office/drawing/2014/main" id="{5915C3C4-923B-40A3-8279-C38F2D8E1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76650"/>
            <a:ext cx="31051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National 228 Memorial Museum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Liao Chin-ping, 1895–1947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9bc142b1c94aea"/>
          <a:stretch xmlns:a="http://schemas.openxmlformats.org/drawingml/2006/main"/>
        </p:blipFill>
        <p:spPr>
          <a:xfrm xmlns:a="http://schemas.openxmlformats.org/drawingml/2006/main">
            <a:off x="4645819" y="304800"/>
            <a:ext cx="3157538" cy="4210050"/>
          </a:xfrm>
          <a:prstGeom xmlns:a="http://schemas.openxmlformats.org/drawingml/2006/main" prst="rect">
            <a:avLst/>
          </a:prstGeom>
        </p:spPr>
      </p:pic>
      <p:sp>
        <p:nvSpPr>
          <p:cNvPr id="6" name="photo-credit">
            <a:extLst xmlns:a="http://schemas.openxmlformats.org/drawingml/2006/main">
              <a:ext uri="{FF2B5EF4-FFF2-40B4-BE49-F238E27FC236}">
                <a16:creationId xmlns:a16="http://schemas.microsoft.com/office/drawing/2014/main" id="{DCE219C7-E7B3-4FBA-ABE8-3BF308C58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638675"/>
            <a:ext cx="433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Фота аўтара / Author’s photographs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ffdfcbffd8472b"/>
          <a:stretch xmlns:a="http://schemas.openxmlformats.org/drawingml/2006/main"/>
        </p:blipFill>
        <p:spPr>
          <a:xfrm xmlns:a="http://schemas.openxmlformats.org/drawingml/2006/main">
            <a:off x="511127" y="4562475"/>
            <a:ext cx="587471" cy="409575"/>
          </a:xfrm>
          <a:prstGeom xmlns:a="http://schemas.openxmlformats.org/drawingml/2006/main" prst="rect">
            <a:avLst/>
          </a:prstGeom>
        </p:spPr>
      </p:pic>
      <p:sp>
        <p:nvSpPr>
          <p:cNvPr id="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C82161B-8E2B-4999-8D70-E958CBEA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6577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72391967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be-title">
            <a:extLst xmlns:a="http://schemas.openxmlformats.org/drawingml/2006/main">
              <a:ext uri="{FF2B5EF4-FFF2-40B4-BE49-F238E27FC236}">
                <a16:creationId xmlns:a16="http://schemas.microsoft.com/office/drawing/2014/main" id="{2503FC1D-5AF4-4AA7-B00C-B4A777910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319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Месцы зняволення як музеі</a:t>
            </a:r>
          </a:p>
        </p:txBody>
      </p:sp>
      <p:sp>
        <p:nvSpPr>
          <p:cNvPr id="2" name="en-title">
            <a:extLst xmlns:a="http://schemas.openxmlformats.org/drawingml/2006/main">
              <a:ext uri="{FF2B5EF4-FFF2-40B4-BE49-F238E27FC236}">
                <a16:creationId xmlns:a16="http://schemas.microsoft.com/office/drawing/2014/main" id="{7D657604-505D-48DC-A962-1CF254C70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0175"/>
            <a:ext cx="319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B573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B573B"/>
                </a:solidFill>
                <a:latin typeface="Arial"/>
                <a:ea typeface="Arial"/>
                <a:cs typeface="Arial"/>
              </a:rPr>
              <a:t>Sites of Imprisonment as Museums</a:t>
            </a:r>
          </a:p>
        </p:txBody>
      </p:sp>
      <p:sp>
        <p:nvSpPr>
          <p:cNvPr id="3" name="be-summary">
            <a:extLst xmlns:a="http://schemas.openxmlformats.org/drawingml/2006/main">
              <a:ext uri="{FF2B5EF4-FFF2-40B4-BE49-F238E27FC236}">
                <a16:creationId xmlns:a16="http://schemas.microsoft.com/office/drawing/2014/main" id="{C979CD8B-79E7-42C5-ADF3-4ED777C3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47925"/>
            <a:ext cx="31051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Музей правоў чалавека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Праца, камера, медыцынскі пакой і крама</a:t>
            </a:r>
          </a:p>
        </p:txBody>
      </p:sp>
      <p:sp>
        <p:nvSpPr>
          <p:cNvPr id="4" name="en-summary">
            <a:extLst xmlns:a="http://schemas.openxmlformats.org/drawingml/2006/main">
              <a:ext uri="{FF2B5EF4-FFF2-40B4-BE49-F238E27FC236}">
                <a16:creationId xmlns:a16="http://schemas.microsoft.com/office/drawing/2014/main" id="{8FA2241E-6682-468E-B8E6-DEBDB54C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76650"/>
            <a:ext cx="31051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Human Rights Museum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Work, cell, medical room and shop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869fe5258941aa"/>
          <a:stretch xmlns:a="http://schemas.openxmlformats.org/drawingml/2006/main"/>
        </p:blipFill>
        <p:spPr>
          <a:xfrm xmlns:a="http://schemas.openxmlformats.org/drawingml/2006/main">
            <a:off x="4225528" y="304800"/>
            <a:ext cx="1493044" cy="1990725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855450b0354df7"/>
          <a:stretch xmlns:a="http://schemas.openxmlformats.org/drawingml/2006/main"/>
        </p:blipFill>
        <p:spPr>
          <a:xfrm xmlns:a="http://schemas.openxmlformats.org/drawingml/2006/main">
            <a:off x="6305550" y="407194"/>
            <a:ext cx="2381250" cy="1785938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e816ce0cad4d7d"/>
          <a:stretch xmlns:a="http://schemas.openxmlformats.org/drawingml/2006/main"/>
        </p:blipFill>
        <p:spPr>
          <a:xfrm xmlns:a="http://schemas.openxmlformats.org/drawingml/2006/main">
            <a:off x="4225528" y="2409825"/>
            <a:ext cx="1493044" cy="1990725"/>
          </a:xfrm>
          <a:prstGeom xmlns:a="http://schemas.openxmlformats.org/drawingml/2006/main" prst="rect">
            <a:avLst/>
          </a:prstGeom>
        </p:spPr>
      </p:pic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67898df1ec410a"/>
          <a:stretch xmlns:a="http://schemas.openxmlformats.org/drawingml/2006/main"/>
        </p:blipFill>
        <p:spPr>
          <a:xfrm xmlns:a="http://schemas.openxmlformats.org/drawingml/2006/main">
            <a:off x="6749653" y="2409825"/>
            <a:ext cx="1493044" cy="1990725"/>
          </a:xfrm>
          <a:prstGeom xmlns:a="http://schemas.openxmlformats.org/drawingml/2006/main" prst="rect">
            <a:avLst/>
          </a:prstGeom>
        </p:spPr>
      </p:pic>
      <p:sp>
        <p:nvSpPr>
          <p:cNvPr id="9" name="photo-credit">
            <a:extLst xmlns:a="http://schemas.openxmlformats.org/drawingml/2006/main">
              <a:ext uri="{FF2B5EF4-FFF2-40B4-BE49-F238E27FC236}">
                <a16:creationId xmlns:a16="http://schemas.microsoft.com/office/drawing/2014/main" id="{9AAD62E2-1F54-4700-B631-CAF4ADF03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638675"/>
            <a:ext cx="433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Фота аўтара / Author’s photographs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a9928eab6c48fe"/>
          <a:stretch xmlns:a="http://schemas.openxmlformats.org/drawingml/2006/main"/>
        </p:blipFill>
        <p:spPr>
          <a:xfrm xmlns:a="http://schemas.openxmlformats.org/drawingml/2006/main">
            <a:off x="511127" y="4562475"/>
            <a:ext cx="587471" cy="409575"/>
          </a:xfrm>
          <a:prstGeom xmlns:a="http://schemas.openxmlformats.org/drawingml/2006/main" prst="rect">
            <a:avLst/>
          </a:prstGeom>
        </p:spPr>
      </p:pic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0D2EAA53-6AF3-45E3-B747-8B5F8E975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6577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81312830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e-title">
            <a:extLst xmlns:a="http://schemas.openxmlformats.org/drawingml/2006/main">
              <a:ext uri="{FF2B5EF4-FFF2-40B4-BE49-F238E27FC236}">
                <a16:creationId xmlns:a16="http://schemas.microsoft.com/office/drawing/2014/main" id="{AE77912B-D2C1-47BB-BDA0-5DB76B47F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319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Архівы і права на веданне</a:t>
            </a:r>
          </a:p>
        </p:txBody>
      </p:sp>
      <p:sp>
        <p:nvSpPr>
          <p:cNvPr id="2" name="en-title">
            <a:extLst xmlns:a="http://schemas.openxmlformats.org/drawingml/2006/main">
              <a:ext uri="{FF2B5EF4-FFF2-40B4-BE49-F238E27FC236}">
                <a16:creationId xmlns:a16="http://schemas.microsoft.com/office/drawing/2014/main" id="{A7F25F6D-75BC-4E80-82C9-DE7EAD64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0175"/>
            <a:ext cx="319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B573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B573B"/>
                </a:solidFill>
                <a:latin typeface="Arial"/>
                <a:ea typeface="Arial"/>
                <a:cs typeface="Arial"/>
              </a:rPr>
              <a:t>Archives and the Right to Know</a:t>
            </a:r>
          </a:p>
        </p:txBody>
      </p:sp>
      <p:sp>
        <p:nvSpPr>
          <p:cNvPr id="3" name="be-summary">
            <a:extLst xmlns:a="http://schemas.openxmlformats.org/drawingml/2006/main">
              <a:ext uri="{FF2B5EF4-FFF2-40B4-BE49-F238E27FC236}">
                <a16:creationId xmlns:a16="http://schemas.microsoft.com/office/drawing/2014/main" id="{5E3E35BE-E2C8-463B-82D5-D5367ED0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47925"/>
            <a:ext cx="31051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Дакументы і галасы сведкаў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Права на веданне мінулага</a:t>
            </a:r>
          </a:p>
        </p:txBody>
      </p:sp>
      <p:sp>
        <p:nvSpPr>
          <p:cNvPr id="4" name="en-summary">
            <a:extLst xmlns:a="http://schemas.openxmlformats.org/drawingml/2006/main">
              <a:ext uri="{FF2B5EF4-FFF2-40B4-BE49-F238E27FC236}">
                <a16:creationId xmlns:a16="http://schemas.microsoft.com/office/drawing/2014/main" id="{3517DC1D-E2B3-447F-8594-806B9EE5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76650"/>
            <a:ext cx="31051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Documents and witnesses’ voices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The right to know the past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001b0fb51d4400"/>
          <a:stretch xmlns:a="http://schemas.openxmlformats.org/drawingml/2006/main"/>
        </p:blipFill>
        <p:spPr>
          <a:xfrm xmlns:a="http://schemas.openxmlformats.org/drawingml/2006/main">
            <a:off x="4645819" y="304800"/>
            <a:ext cx="3157538" cy="4210050"/>
          </a:xfrm>
          <a:prstGeom xmlns:a="http://schemas.openxmlformats.org/drawingml/2006/main" prst="rect">
            <a:avLst/>
          </a:prstGeom>
        </p:spPr>
      </p:pic>
      <p:sp>
        <p:nvSpPr>
          <p:cNvPr id="6" name="photo-credit">
            <a:extLst xmlns:a="http://schemas.openxmlformats.org/drawingml/2006/main">
              <a:ext uri="{FF2B5EF4-FFF2-40B4-BE49-F238E27FC236}">
                <a16:creationId xmlns:a16="http://schemas.microsoft.com/office/drawing/2014/main" id="{3A56FC99-FCEE-4288-B421-8A5ED4C8C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638675"/>
            <a:ext cx="433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Фота аўтара / Author’s photographs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4465a5672d4b21"/>
          <a:stretch xmlns:a="http://schemas.openxmlformats.org/drawingml/2006/main"/>
        </p:blipFill>
        <p:spPr>
          <a:xfrm xmlns:a="http://schemas.openxmlformats.org/drawingml/2006/main">
            <a:off x="511127" y="4562475"/>
            <a:ext cx="587471" cy="409575"/>
          </a:xfrm>
          <a:prstGeom xmlns:a="http://schemas.openxmlformats.org/drawingml/2006/main" prst="rect">
            <a:avLst/>
          </a:prstGeom>
        </p:spPr>
      </p:pic>
      <p:sp>
        <p:nvSpPr>
          <p:cNvPr id="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D60C31B-9F14-40C6-8868-246A2486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6577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0340017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e-title">
            <a:extLst xmlns:a="http://schemas.openxmlformats.org/drawingml/2006/main">
              <a:ext uri="{FF2B5EF4-FFF2-40B4-BE49-F238E27FC236}">
                <a16:creationId xmlns:a16="http://schemas.microsoft.com/office/drawing/2014/main" id="{8A6050E9-DCF7-4F50-89FA-529E92E8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3048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Лакальная памяць у Пулі</a:t>
            </a:r>
          </a:p>
        </p:txBody>
      </p:sp>
      <p:sp>
        <p:nvSpPr>
          <p:cNvPr id="2" name="be-caption">
            <a:extLst xmlns:a="http://schemas.openxmlformats.org/drawingml/2006/main">
              <a:ext uri="{FF2B5EF4-FFF2-40B4-BE49-F238E27FC236}">
                <a16:creationId xmlns:a16="http://schemas.microsoft.com/office/drawing/2014/main" id="{E78B39D3-D893-4306-90A2-1C9720E92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29908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Помнік бітве пры Уньюлані</a:t>
            </a:r>
          </a:p>
          <a:p xmlns:a="http://schemas.openxmlformats.org/drawingml/2006/main">
            <a:pPr>
              <a:defRPr sz="14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Пулі, павет Наньтоу</a:t>
            </a:r>
          </a:p>
          <a:p xmlns:a="http://schemas.openxmlformats.org/drawingml/2006/main">
            <a:pPr>
              <a:defRPr sz="14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Канкрэтнае месца ў гісторыі 228</a:t>
            </a:r>
          </a:p>
        </p:txBody>
      </p:sp>
      <p:sp>
        <p:nvSpPr>
          <p:cNvPr id="3" name="en-title">
            <a:extLst xmlns:a="http://schemas.openxmlformats.org/drawingml/2006/main">
              <a:ext uri="{FF2B5EF4-FFF2-40B4-BE49-F238E27FC236}">
                <a16:creationId xmlns:a16="http://schemas.microsoft.com/office/drawing/2014/main" id="{9E09868A-CE18-40FA-88B6-D5566FBAA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00350"/>
            <a:ext cx="304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Local Memory in Puli</a:t>
            </a:r>
          </a:p>
        </p:txBody>
      </p:sp>
      <p:sp>
        <p:nvSpPr>
          <p:cNvPr id="4" name="en-caption">
            <a:extLst xmlns:a="http://schemas.openxmlformats.org/drawingml/2006/main">
              <a:ext uri="{FF2B5EF4-FFF2-40B4-BE49-F238E27FC236}">
                <a16:creationId xmlns:a16="http://schemas.microsoft.com/office/drawing/2014/main" id="{724ED04B-1843-40B8-908A-7B3C6561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90925"/>
            <a:ext cx="2990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Wuniulan battle memorial</a:t>
            </a:r>
          </a:p>
          <a:p xmlns:a="http://schemas.openxmlformats.org/drawingml/2006/main">
            <a:pPr>
              <a:defRPr sz="13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Puli, Nantou County</a:t>
            </a:r>
          </a:p>
          <a:p xmlns:a="http://schemas.openxmlformats.org/drawingml/2006/main">
            <a:pPr>
              <a:defRPr sz="13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A specific place within the history of 228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fee926816844bb"/>
          <a:stretch xmlns:a="http://schemas.openxmlformats.org/drawingml/2006/main"/>
        </p:blipFill>
        <p:spPr>
          <a:xfrm xmlns:a="http://schemas.openxmlformats.org/drawingml/2006/main">
            <a:off x="4237482" y="323850"/>
            <a:ext cx="4059936" cy="422910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bc3bc56f524806"/>
          <a:stretch xmlns:a="http://schemas.openxmlformats.org/drawingml/2006/main"/>
        </p:blipFill>
        <p:spPr>
          <a:xfrm xmlns:a="http://schemas.openxmlformats.org/drawingml/2006/main">
            <a:off x="511127" y="4562475"/>
            <a:ext cx="587471" cy="409575"/>
          </a:xfrm>
          <a:prstGeom xmlns:a="http://schemas.openxmlformats.org/drawingml/2006/main" prst="rect">
            <a:avLst/>
          </a:prstGeom>
        </p:spPr>
      </p:pic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BA76398-7538-4EC2-8CEF-A297186AD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6577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7508802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e-title">
            <a:extLst xmlns:a="http://schemas.openxmlformats.org/drawingml/2006/main">
              <a:ext uri="{FF2B5EF4-FFF2-40B4-BE49-F238E27FC236}">
                <a16:creationId xmlns:a16="http://schemas.microsoft.com/office/drawing/2014/main" id="{B25B132A-30F9-42E0-A420-CA5EC2605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3048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Выстава «Расколіны і святло»</a:t>
            </a:r>
          </a:p>
        </p:txBody>
      </p:sp>
      <p:sp>
        <p:nvSpPr>
          <p:cNvPr id="2" name="be-caption">
            <a:extLst xmlns:a="http://schemas.openxmlformats.org/drawingml/2006/main">
              <a:ext uri="{FF2B5EF4-FFF2-40B4-BE49-F238E27FC236}">
                <a16:creationId xmlns:a16="http://schemas.microsoft.com/office/drawing/2014/main" id="{39A3B4D4-7CBF-4F35-B63E-80AF4E97C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29908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Гаосюн: лакальная гісторыя дэмакратызацыі</a:t>
            </a:r>
          </a:p>
          <a:p xmlns:a="http://schemas.openxmlformats.org/drawingml/2006/main">
            <a:pPr>
              <a:defRPr sz="14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228, Белы тэрор, Інцыдэнт Мэйлідао</a:t>
            </a:r>
          </a:p>
        </p:txBody>
      </p:sp>
      <p:sp>
        <p:nvSpPr>
          <p:cNvPr id="3" name="en-title">
            <a:extLst xmlns:a="http://schemas.openxmlformats.org/drawingml/2006/main">
              <a:ext uri="{FF2B5EF4-FFF2-40B4-BE49-F238E27FC236}">
                <a16:creationId xmlns:a16="http://schemas.microsoft.com/office/drawing/2014/main" id="{B86562E4-FCEB-4A24-9420-B0338ACC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00350"/>
            <a:ext cx="304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Fissures and Light</a:t>
            </a:r>
          </a:p>
        </p:txBody>
      </p:sp>
      <p:sp>
        <p:nvSpPr>
          <p:cNvPr id="4" name="en-caption">
            <a:extLst xmlns:a="http://schemas.openxmlformats.org/drawingml/2006/main">
              <a:ext uri="{FF2B5EF4-FFF2-40B4-BE49-F238E27FC236}">
                <a16:creationId xmlns:a16="http://schemas.microsoft.com/office/drawing/2014/main" id="{59813B3E-3F9C-4725-8828-AD6D0F69B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90925"/>
            <a:ext cx="2990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Kaohsiung: a local history of democratization</a:t>
            </a:r>
          </a:p>
          <a:p xmlns:a="http://schemas.openxmlformats.org/drawingml/2006/main">
            <a:pPr>
              <a:defRPr sz="13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228, the White Terror, and the Formosa Incident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fcb1d83a9f4c71"/>
          <a:stretch xmlns:a="http://schemas.openxmlformats.org/drawingml/2006/main"/>
        </p:blipFill>
        <p:spPr>
          <a:xfrm xmlns:a="http://schemas.openxmlformats.org/drawingml/2006/main">
            <a:off x="4237482" y="323850"/>
            <a:ext cx="4059936" cy="422910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877a1d52af4035"/>
          <a:stretch xmlns:a="http://schemas.openxmlformats.org/drawingml/2006/main"/>
        </p:blipFill>
        <p:spPr>
          <a:xfrm xmlns:a="http://schemas.openxmlformats.org/drawingml/2006/main">
            <a:off x="511127" y="4562475"/>
            <a:ext cx="587471" cy="409575"/>
          </a:xfrm>
          <a:prstGeom xmlns:a="http://schemas.openxmlformats.org/drawingml/2006/main" prst="rect">
            <a:avLst/>
          </a:prstGeom>
        </p:spPr>
      </p:pic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16F3DFE7-2CC8-4159-910D-9052B67C6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6577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99684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e-title">
            <a:extLst xmlns:a="http://schemas.openxmlformats.org/drawingml/2006/main">
              <a:ext uri="{FF2B5EF4-FFF2-40B4-BE49-F238E27FC236}">
                <a16:creationId xmlns:a16="http://schemas.microsoft.com/office/drawing/2014/main" id="{2C031DFA-62D1-4C4C-98AD-20FBF737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3048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Шлях да прызнання</a:t>
            </a:r>
          </a:p>
        </p:txBody>
      </p:sp>
      <p:sp>
        <p:nvSpPr>
          <p:cNvPr id="2" name="be-caption">
            <a:extLst xmlns:a="http://schemas.openxmlformats.org/drawingml/2006/main">
              <a:ext uri="{FF2B5EF4-FFF2-40B4-BE49-F238E27FC236}">
                <a16:creationId xmlns:a16="http://schemas.microsoft.com/office/drawing/2014/main" id="{E5A6520C-E6A5-4998-8643-FEE8A2F39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29908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1991–1995</a:t>
            </a:r>
          </a:p>
          <a:p xmlns:a="http://schemas.openxmlformats.org/drawingml/2006/main">
            <a:pPr>
              <a:defRPr sz="14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Прабачэнні, кампенсацыі, Мемарыяльны фонд 228</a:t>
            </a:r>
          </a:p>
        </p:txBody>
      </p:sp>
      <p:sp>
        <p:nvSpPr>
          <p:cNvPr id="3" name="en-title">
            <a:extLst xmlns:a="http://schemas.openxmlformats.org/drawingml/2006/main">
              <a:ext uri="{FF2B5EF4-FFF2-40B4-BE49-F238E27FC236}">
                <a16:creationId xmlns:a16="http://schemas.microsoft.com/office/drawing/2014/main" id="{3F257CDB-98F8-48DC-8CB3-7767F807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00350"/>
            <a:ext cx="304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Road to Recognition</a:t>
            </a:r>
          </a:p>
        </p:txBody>
      </p:sp>
      <p:sp>
        <p:nvSpPr>
          <p:cNvPr id="4" name="en-caption">
            <a:extLst xmlns:a="http://schemas.openxmlformats.org/drawingml/2006/main">
              <a:ext uri="{FF2B5EF4-FFF2-40B4-BE49-F238E27FC236}">
                <a16:creationId xmlns:a16="http://schemas.microsoft.com/office/drawing/2014/main" id="{9C1AE30B-66AF-44B6-A3BA-1BF133A09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90925"/>
            <a:ext cx="2990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1991–1995</a:t>
            </a:r>
          </a:p>
          <a:p xmlns:a="http://schemas.openxmlformats.org/drawingml/2006/main">
            <a:pPr>
              <a:defRPr sz="13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Apology, compensation, the 228 Memorial Foundation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042d74524c49d6"/>
          <a:stretch xmlns:a="http://schemas.openxmlformats.org/drawingml/2006/main"/>
        </p:blipFill>
        <p:spPr>
          <a:xfrm xmlns:a="http://schemas.openxmlformats.org/drawingml/2006/main">
            <a:off x="4237482" y="323850"/>
            <a:ext cx="4059936" cy="422910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093e612a1a48f7"/>
          <a:stretch xmlns:a="http://schemas.openxmlformats.org/drawingml/2006/main"/>
        </p:blipFill>
        <p:spPr>
          <a:xfrm xmlns:a="http://schemas.openxmlformats.org/drawingml/2006/main">
            <a:off x="511127" y="4562475"/>
            <a:ext cx="587471" cy="409575"/>
          </a:xfrm>
          <a:prstGeom xmlns:a="http://schemas.openxmlformats.org/drawingml/2006/main" prst="rect">
            <a:avLst/>
          </a:prstGeom>
        </p:spPr>
      </p:pic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2A2660C1-6C7F-4CBF-836A-CE81CB1CA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6577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72088758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e-title">
            <a:extLst xmlns:a="http://schemas.openxmlformats.org/drawingml/2006/main">
              <a:ext uri="{FF2B5EF4-FFF2-40B4-BE49-F238E27FC236}">
                <a16:creationId xmlns:a16="http://schemas.microsoft.com/office/drawing/2014/main" id="{D15A7CE5-4046-49BD-BF1D-C95DBD196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3048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Падаўленне 1947 года ў Гаосюне</a:t>
            </a:r>
          </a:p>
        </p:txBody>
      </p:sp>
      <p:sp>
        <p:nvSpPr>
          <p:cNvPr id="2" name="be-caption">
            <a:extLst xmlns:a="http://schemas.openxmlformats.org/drawingml/2006/main">
              <a:ext uri="{FF2B5EF4-FFF2-40B4-BE49-F238E27FC236}">
                <a16:creationId xmlns:a16="http://schemas.microsoft.com/office/drawing/2014/main" id="{A8CEB8A5-4B5C-4869-B89E-CFDAA0012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29908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Маршруты войскаў і дакументы кантролю</a:t>
            </a:r>
          </a:p>
          <a:p xmlns:a="http://schemas.openxmlformats.org/drawingml/2006/main">
            <a:pPr>
              <a:defRPr sz="14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Гвалт у канкрэтнай гарадской прасторы</a:t>
            </a:r>
          </a:p>
        </p:txBody>
      </p:sp>
      <p:sp>
        <p:nvSpPr>
          <p:cNvPr id="3" name="en-title">
            <a:extLst xmlns:a="http://schemas.openxmlformats.org/drawingml/2006/main">
              <a:ext uri="{FF2B5EF4-FFF2-40B4-BE49-F238E27FC236}">
                <a16:creationId xmlns:a16="http://schemas.microsoft.com/office/drawing/2014/main" id="{C1EE1563-B974-4CEE-ACAB-3D69EE047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00350"/>
            <a:ext cx="304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Suppression in Kaohsiung in 1947</a:t>
            </a:r>
          </a:p>
        </p:txBody>
      </p:sp>
      <p:sp>
        <p:nvSpPr>
          <p:cNvPr id="4" name="en-caption">
            <a:extLst xmlns:a="http://schemas.openxmlformats.org/drawingml/2006/main">
              <a:ext uri="{FF2B5EF4-FFF2-40B4-BE49-F238E27FC236}">
                <a16:creationId xmlns:a16="http://schemas.microsoft.com/office/drawing/2014/main" id="{6D363C83-553A-44AB-87C9-8F336D85D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90925"/>
            <a:ext cx="2990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Troop routes and documents of control</a:t>
            </a:r>
          </a:p>
          <a:p xmlns:a="http://schemas.openxmlformats.org/drawingml/2006/main">
            <a:pPr>
              <a:defRPr sz="13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Violence within a specific urban space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c8df766391423b"/>
          <a:stretch xmlns:a="http://schemas.openxmlformats.org/drawingml/2006/main"/>
        </p:blipFill>
        <p:spPr>
          <a:xfrm xmlns:a="http://schemas.openxmlformats.org/drawingml/2006/main">
            <a:off x="4237482" y="323850"/>
            <a:ext cx="4059936" cy="422910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62881f487a485b"/>
          <a:stretch xmlns:a="http://schemas.openxmlformats.org/drawingml/2006/main"/>
        </p:blipFill>
        <p:spPr>
          <a:xfrm xmlns:a="http://schemas.openxmlformats.org/drawingml/2006/main">
            <a:off x="511127" y="4562475"/>
            <a:ext cx="587471" cy="409575"/>
          </a:xfrm>
          <a:prstGeom xmlns:a="http://schemas.openxmlformats.org/drawingml/2006/main" prst="rect">
            <a:avLst/>
          </a:prstGeom>
        </p:spPr>
      </p:pic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77A7ABE1-A963-4ED0-940C-3DAC3C367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6577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4992694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e-title">
            <a:extLst xmlns:a="http://schemas.openxmlformats.org/drawingml/2006/main">
              <a:ext uri="{FF2B5EF4-FFF2-40B4-BE49-F238E27FC236}">
                <a16:creationId xmlns:a16="http://schemas.microsoft.com/office/drawing/2014/main" id="{C8FE7319-EFE9-4764-9A9C-2813F1DFE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3048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Кветкі свабоды</a:t>
            </a:r>
          </a:p>
        </p:txBody>
      </p:sp>
      <p:sp>
        <p:nvSpPr>
          <p:cNvPr id="2" name="be-caption">
            <a:extLst xmlns:a="http://schemas.openxmlformats.org/drawingml/2006/main">
              <a:ext uri="{FF2B5EF4-FFF2-40B4-BE49-F238E27FC236}">
                <a16:creationId xmlns:a16="http://schemas.microsoft.com/office/drawing/2014/main" id="{B4AD0DC3-029B-477E-A098-80DFB8811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29908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Мемарыяльны зал Чан Кайшы, Тайбэй</a:t>
            </a:r>
          </a:p>
          <a:p xmlns:a="http://schemas.openxmlformats.org/drawingml/2006/main">
            <a:pPr>
              <a:defRPr sz="14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З 24 лістапада 2025</a:t>
            </a:r>
          </a:p>
        </p:txBody>
      </p:sp>
      <p:sp>
        <p:nvSpPr>
          <p:cNvPr id="3" name="en-title">
            <a:extLst xmlns:a="http://schemas.openxmlformats.org/drawingml/2006/main">
              <a:ext uri="{FF2B5EF4-FFF2-40B4-BE49-F238E27FC236}">
                <a16:creationId xmlns:a16="http://schemas.microsoft.com/office/drawing/2014/main" id="{5AF829B9-9755-4367-8B3C-4E1549545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00350"/>
            <a:ext cx="304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Flowers of Freedom</a:t>
            </a:r>
          </a:p>
        </p:txBody>
      </p:sp>
      <p:sp>
        <p:nvSpPr>
          <p:cNvPr id="4" name="en-caption">
            <a:extLst xmlns:a="http://schemas.openxmlformats.org/drawingml/2006/main">
              <a:ext uri="{FF2B5EF4-FFF2-40B4-BE49-F238E27FC236}">
                <a16:creationId xmlns:a16="http://schemas.microsoft.com/office/drawing/2014/main" id="{60CFFEDE-B96F-4C1E-A478-D6DDB5A8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90925"/>
            <a:ext cx="2990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Chiang Kai-shek Memorial Hall, Taipei</a:t>
            </a:r>
          </a:p>
          <a:p xmlns:a="http://schemas.openxmlformats.org/drawingml/2006/main">
            <a:pPr>
              <a:defRPr sz="13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Since 24 November 2025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44c93cd38849c8"/>
          <a:stretch xmlns:a="http://schemas.openxmlformats.org/drawingml/2006/main"/>
        </p:blipFill>
        <p:spPr>
          <a:xfrm xmlns:a="http://schemas.openxmlformats.org/drawingml/2006/main">
            <a:off x="3792141" y="323850"/>
            <a:ext cx="2378869" cy="4229100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4e18a1589f4f8e"/>
          <a:stretch xmlns:a="http://schemas.openxmlformats.org/drawingml/2006/main"/>
        </p:blipFill>
        <p:spPr>
          <a:xfrm xmlns:a="http://schemas.openxmlformats.org/drawingml/2006/main">
            <a:off x="6363891" y="323850"/>
            <a:ext cx="2378869" cy="4229100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fc9ddf7324457d"/>
          <a:stretch xmlns:a="http://schemas.openxmlformats.org/drawingml/2006/main"/>
        </p:blipFill>
        <p:spPr>
          <a:xfrm xmlns:a="http://schemas.openxmlformats.org/drawingml/2006/main">
            <a:off x="511127" y="4562475"/>
            <a:ext cx="587471" cy="409575"/>
          </a:xfrm>
          <a:prstGeom xmlns:a="http://schemas.openxmlformats.org/drawingml/2006/main" prst="rect">
            <a:avLst/>
          </a:prstGeom>
        </p:spPr>
      </p:pic>
      <p:sp>
        <p:nvSpPr>
          <p:cNvPr id="8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9FEC1B39-887C-4DA5-824F-69065AEF6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6577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0018847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e-title">
            <a:extLst xmlns:a="http://schemas.openxmlformats.org/drawingml/2006/main">
              <a:ext uri="{FF2B5EF4-FFF2-40B4-BE49-F238E27FC236}">
                <a16:creationId xmlns:a16="http://schemas.microsoft.com/office/drawing/2014/main" id="{A2B7834B-F709-4559-A7F1-29B4CFE0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3048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Каўчэг дэмакратыі</a:t>
            </a:r>
          </a:p>
        </p:txBody>
      </p:sp>
      <p:sp>
        <p:nvSpPr>
          <p:cNvPr id="2" name="be-caption">
            <a:extLst xmlns:a="http://schemas.openxmlformats.org/drawingml/2006/main">
              <a:ext uri="{FF2B5EF4-FFF2-40B4-BE49-F238E27FC236}">
                <a16:creationId xmlns:a16="http://schemas.microsoft.com/office/drawing/2014/main" id="{B8BA0373-AB32-4A43-A1D0-79EA2454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29908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Прэзідэнцкае ўпраўленне, Тайбэй</a:t>
            </a:r>
          </a:p>
          <a:p xmlns:a="http://schemas.openxmlformats.org/drawingml/2006/main">
            <a:pPr>
              <a:defRPr sz="14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Дэмакратыя як тэма экспазіцыі</a:t>
            </a:r>
          </a:p>
        </p:txBody>
      </p:sp>
      <p:sp>
        <p:nvSpPr>
          <p:cNvPr id="3" name="en-title">
            <a:extLst xmlns:a="http://schemas.openxmlformats.org/drawingml/2006/main">
              <a:ext uri="{FF2B5EF4-FFF2-40B4-BE49-F238E27FC236}">
                <a16:creationId xmlns:a16="http://schemas.microsoft.com/office/drawing/2014/main" id="{423C41DE-F757-4140-88AB-6BFBC3B4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00350"/>
            <a:ext cx="304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Ark of Democracy</a:t>
            </a:r>
          </a:p>
        </p:txBody>
      </p:sp>
      <p:sp>
        <p:nvSpPr>
          <p:cNvPr id="4" name="en-caption">
            <a:extLst xmlns:a="http://schemas.openxmlformats.org/drawingml/2006/main">
              <a:ext uri="{FF2B5EF4-FFF2-40B4-BE49-F238E27FC236}">
                <a16:creationId xmlns:a16="http://schemas.microsoft.com/office/drawing/2014/main" id="{ECDAE55B-7B32-4FD1-BD2E-252A6EBAC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90925"/>
            <a:ext cx="2990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Presidential Office, Taipei</a:t>
            </a:r>
          </a:p>
          <a:p xmlns:a="http://schemas.openxmlformats.org/drawingml/2006/main">
            <a:pPr>
              <a:defRPr sz="13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Democracy as an exhibition theme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adb74cd9ea44f0"/>
          <a:stretch xmlns:a="http://schemas.openxmlformats.org/drawingml/2006/main"/>
        </p:blipFill>
        <p:spPr>
          <a:xfrm xmlns:a="http://schemas.openxmlformats.org/drawingml/2006/main">
            <a:off x="4237482" y="323850"/>
            <a:ext cx="4059936" cy="4229100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62e06e34a64032"/>
          <a:stretch xmlns:a="http://schemas.openxmlformats.org/drawingml/2006/main"/>
        </p:blipFill>
        <p:spPr>
          <a:xfrm xmlns:a="http://schemas.openxmlformats.org/drawingml/2006/main">
            <a:off x="511127" y="4562475"/>
            <a:ext cx="587471" cy="409575"/>
          </a:xfrm>
          <a:prstGeom xmlns:a="http://schemas.openxmlformats.org/drawingml/2006/main" prst="rect">
            <a:avLst/>
          </a:prstGeom>
        </p:spPr>
      </p:pic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B1DEBEEA-B016-4FBD-B049-D5E622A30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6577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6985674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e-title">
            <a:extLst xmlns:a="http://schemas.openxmlformats.org/drawingml/2006/main">
              <a:ext uri="{FF2B5EF4-FFF2-40B4-BE49-F238E27FC236}">
                <a16:creationId xmlns:a16="http://schemas.microsoft.com/office/drawing/2014/main" id="{007A90FF-7E1A-44A8-B4E5-1B11C6FBF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42950"/>
            <a:ext cx="30480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Музей дэмакратычных момантаў</a:t>
            </a:r>
          </a:p>
        </p:txBody>
      </p:sp>
      <p:sp>
        <p:nvSpPr>
          <p:cNvPr id="2" name="be-caption">
            <a:extLst xmlns:a="http://schemas.openxmlformats.org/drawingml/2006/main">
              <a:ext uri="{FF2B5EF4-FFF2-40B4-BE49-F238E27FC236}">
                <a16:creationId xmlns:a16="http://schemas.microsoft.com/office/drawing/2014/main" id="{5C2F1A45-009D-4A3C-B4D4-E8FB01435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714500"/>
            <a:ext cx="29908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Вуфэн, Тайчжун</a:t>
            </a:r>
          </a:p>
          <a:p xmlns:a="http://schemas.openxmlformats.org/drawingml/2006/main">
            <a:pPr>
              <a:defRPr sz="14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Былы правінцыяльны сход</a:t>
            </a:r>
          </a:p>
          <a:p xmlns:a="http://schemas.openxmlformats.org/drawingml/2006/main">
            <a:pPr>
              <a:defRPr sz="14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Пераасэнсаванне палітычнай прасторы</a:t>
            </a:r>
          </a:p>
        </p:txBody>
      </p:sp>
      <p:sp>
        <p:nvSpPr>
          <p:cNvPr id="3" name="en-title">
            <a:extLst xmlns:a="http://schemas.openxmlformats.org/drawingml/2006/main">
              <a:ext uri="{FF2B5EF4-FFF2-40B4-BE49-F238E27FC236}">
                <a16:creationId xmlns:a16="http://schemas.microsoft.com/office/drawing/2014/main" id="{F43EEF68-1C65-4827-A671-F9358A025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00350"/>
            <a:ext cx="3048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Democratic Times Museum</a:t>
            </a:r>
          </a:p>
        </p:txBody>
      </p:sp>
      <p:sp>
        <p:nvSpPr>
          <p:cNvPr id="4" name="en-caption">
            <a:extLst xmlns:a="http://schemas.openxmlformats.org/drawingml/2006/main">
              <a:ext uri="{FF2B5EF4-FFF2-40B4-BE49-F238E27FC236}">
                <a16:creationId xmlns:a16="http://schemas.microsoft.com/office/drawing/2014/main" id="{C7E74200-B8AE-4302-9AA7-17AC4EACA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90925"/>
            <a:ext cx="2990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Wufeng, Taichung</a:t>
            </a:r>
          </a:p>
          <a:p xmlns:a="http://schemas.openxmlformats.org/drawingml/2006/main">
            <a:pPr>
              <a:defRPr sz="13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Former Provincial Assembly</a:t>
            </a:r>
          </a:p>
          <a:p xmlns:a="http://schemas.openxmlformats.org/drawingml/2006/main">
            <a:pPr>
              <a:defRPr sz="13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Reinterpreting a political space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5b2ef5c7534db8"/>
          <a:stretch xmlns:a="http://schemas.openxmlformats.org/drawingml/2006/main"/>
        </p:blipFill>
        <p:spPr>
          <a:xfrm xmlns:a="http://schemas.openxmlformats.org/drawingml/2006/main">
            <a:off x="3752850" y="1445133"/>
            <a:ext cx="5029200" cy="1986534"/>
          </a:xfrm>
          <a:prstGeom xmlns:a="http://schemas.openxmlformats.org/drawingml/2006/main" prst="rect">
            <a:avLst/>
          </a:prstGeom>
        </p:spPr>
      </p:pic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009b86f77a459f"/>
          <a:stretch xmlns:a="http://schemas.openxmlformats.org/drawingml/2006/main"/>
        </p:blipFill>
        <p:spPr>
          <a:xfrm xmlns:a="http://schemas.openxmlformats.org/drawingml/2006/main">
            <a:off x="511127" y="4562475"/>
            <a:ext cx="587471" cy="409575"/>
          </a:xfrm>
          <a:prstGeom xmlns:a="http://schemas.openxmlformats.org/drawingml/2006/main" prst="rect">
            <a:avLst/>
          </a:prstGeom>
        </p:spPr>
      </p:pic>
      <p:sp>
        <p:nvSpPr>
          <p:cNvPr id="7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8F70BA09-AB42-4D14-98F4-98331F80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6577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3947165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be-title">
            <a:extLst xmlns:a="http://schemas.openxmlformats.org/drawingml/2006/main">
              <a:ext uri="{FF2B5EF4-FFF2-40B4-BE49-F238E27FC236}">
                <a16:creationId xmlns:a16="http://schemas.microsoft.com/office/drawing/2014/main" id="{72016906-4343-423C-8594-7BE17C5EE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"/>
            <a:ext cx="3105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Літаратура і кіно</a:t>
            </a:r>
          </a:p>
        </p:txBody>
      </p:sp>
      <p:sp>
        <p:nvSpPr>
          <p:cNvPr id="2" name="en-title">
            <a:extLst xmlns:a="http://schemas.openxmlformats.org/drawingml/2006/main">
              <a:ext uri="{FF2B5EF4-FFF2-40B4-BE49-F238E27FC236}">
                <a16:creationId xmlns:a16="http://schemas.microsoft.com/office/drawing/2014/main" id="{340AD22C-5153-42EC-80BB-F6880ED43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2050"/>
            <a:ext cx="3105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B573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B573B"/>
                </a:solidFill>
                <a:latin typeface="Arial"/>
                <a:ea typeface="Arial"/>
                <a:cs typeface="Arial"/>
              </a:rPr>
              <a:t>Literature and Cinema</a:t>
            </a:r>
          </a:p>
        </p:txBody>
      </p:sp>
      <p:sp>
        <p:nvSpPr>
          <p:cNvPr id="3" name="be-summary">
            <a:extLst xmlns:a="http://schemas.openxmlformats.org/drawingml/2006/main">
              <a:ext uri="{FF2B5EF4-FFF2-40B4-BE49-F238E27FC236}">
                <a16:creationId xmlns:a16="http://schemas.microsoft.com/office/drawing/2014/main" id="{572B7E20-D400-4D44-BAAE-25A6A4FC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85975"/>
            <a:ext cx="31051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Памяць праз сямейную гісторыю і жаночы турэмны досвед.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«Зялёны востраў»: траўма, сям’я і дыяспара.</a:t>
            </a:r>
          </a:p>
        </p:txBody>
      </p:sp>
      <p:sp>
        <p:nvSpPr>
          <p:cNvPr id="4" name="en-summary">
            <a:extLst xmlns:a="http://schemas.openxmlformats.org/drawingml/2006/main">
              <a:ext uri="{FF2B5EF4-FFF2-40B4-BE49-F238E27FC236}">
                <a16:creationId xmlns:a16="http://schemas.microsoft.com/office/drawing/2014/main" id="{2332D072-7CCD-4A2F-AD2B-97FDFDE52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09975"/>
            <a:ext cx="31051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Family history. Women in prison.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Green Island: family and diaspora.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5c44a62ee441bf"/>
          <a:stretch xmlns:a="http://schemas.openxmlformats.org/drawingml/2006/main"/>
        </p:blipFill>
        <p:spPr>
          <a:xfrm xmlns:a="http://schemas.openxmlformats.org/drawingml/2006/main">
            <a:off x="3800475" y="504370"/>
            <a:ext cx="2276475" cy="3248934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b03da914b049c4"/>
          <a:stretch xmlns:a="http://schemas.openxmlformats.org/drawingml/2006/main"/>
        </p:blipFill>
        <p:spPr>
          <a:xfrm xmlns:a="http://schemas.openxmlformats.org/drawingml/2006/main">
            <a:off x="6343650" y="442823"/>
            <a:ext cx="2276475" cy="3372029"/>
          </a:xfrm>
          <a:prstGeom xmlns:a="http://schemas.openxmlformats.org/drawingml/2006/main" prst="rect">
            <a:avLst/>
          </a:prstGeom>
        </p:spPr>
      </p:pic>
      <p:sp>
        <p:nvSpPr>
          <p:cNvPr id="7" name="city-caption">
            <a:extLst xmlns:a="http://schemas.openxmlformats.org/drawingml/2006/main">
              <a:ext uri="{FF2B5EF4-FFF2-40B4-BE49-F238E27FC236}">
                <a16:creationId xmlns:a16="http://schemas.microsoft.com/office/drawing/2014/main" id="{81583F85-31E1-4EA3-BD21-EE1255E75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990975"/>
            <a:ext cx="22764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«Горад смутку» / A City of Sadness</a:t>
            </a:r>
          </a:p>
          <a:p xmlns:a="http://schemas.openxmlformats.org/drawingml/2006/main">
            <a:pPr>
              <a:defRPr sz="12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1989</a:t>
            </a:r>
          </a:p>
        </p:txBody>
      </p:sp>
      <p:sp>
        <p:nvSpPr>
          <p:cNvPr id="8" name="herstory-caption">
            <a:extLst xmlns:a="http://schemas.openxmlformats.org/drawingml/2006/main">
              <a:ext uri="{FF2B5EF4-FFF2-40B4-BE49-F238E27FC236}">
                <a16:creationId xmlns:a16="http://schemas.microsoft.com/office/drawing/2014/main" id="{C19B2DF4-9963-4A74-9BE9-C8081CD0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990975"/>
            <a:ext cx="22764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«Люмагоу № 15»</a:t>
            </a:r>
          </a:p>
          <a:p xmlns:a="http://schemas.openxmlformats.org/drawingml/2006/main">
            <a:pPr>
              <a:defRPr sz="1275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Untold Herstory, 2022</a:t>
            </a:r>
          </a:p>
        </p:txBody>
      </p:sp>
      <p:sp>
        <p:nvSpPr>
          <p:cNvPr id="9" name="image-credit">
            <a:extLst xmlns:a="http://schemas.openxmlformats.org/drawingml/2006/main">
              <a:ext uri="{FF2B5EF4-FFF2-40B4-BE49-F238E27FC236}">
                <a16:creationId xmlns:a16="http://schemas.microsoft.com/office/drawing/2014/main" id="{3548D503-B975-4481-9D20-86BBAA446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4629150"/>
            <a:ext cx="4286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Афішы / Posters: Film Movement, Taiwan Cinema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5e725d2aec4a22"/>
          <a:stretch xmlns:a="http://schemas.openxmlformats.org/drawingml/2006/main"/>
        </p:blipFill>
        <p:spPr>
          <a:xfrm xmlns:a="http://schemas.openxmlformats.org/drawingml/2006/main">
            <a:off x="511127" y="4562475"/>
            <a:ext cx="587471" cy="409575"/>
          </a:xfrm>
          <a:prstGeom xmlns:a="http://schemas.openxmlformats.org/drawingml/2006/main" prst="rect">
            <a:avLst/>
          </a:prstGeom>
        </p:spPr>
      </p:pic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6A22FF9-B7FA-4449-AEAF-389F6B0B9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6577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41276207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e-title">
            <a:extLst xmlns:a="http://schemas.openxmlformats.org/drawingml/2006/main">
              <a:ext uri="{FF2B5EF4-FFF2-40B4-BE49-F238E27FC236}">
                <a16:creationId xmlns:a16="http://schemas.microsoft.com/office/drawing/2014/main" id="{7886C77B-AF2D-4306-B080-FFA4881A6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"/>
            <a:ext cx="31051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Вобраз і публічнае выкананне</a:t>
            </a:r>
          </a:p>
        </p:txBody>
      </p:sp>
      <p:sp>
        <p:nvSpPr>
          <p:cNvPr id="2" name="en-title">
            <a:extLst xmlns:a="http://schemas.openxmlformats.org/drawingml/2006/main">
              <a:ext uri="{FF2B5EF4-FFF2-40B4-BE49-F238E27FC236}">
                <a16:creationId xmlns:a16="http://schemas.microsoft.com/office/drawing/2014/main" id="{792B8F0F-E587-4781-8DF1-707015751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2050"/>
            <a:ext cx="31051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B573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B573B"/>
                </a:solidFill>
                <a:latin typeface="Arial"/>
                <a:ea typeface="Arial"/>
                <a:cs typeface="Arial"/>
              </a:rPr>
              <a:t>Visual Art and Public Performance</a:t>
            </a:r>
          </a:p>
        </p:txBody>
      </p:sp>
      <p:sp>
        <p:nvSpPr>
          <p:cNvPr id="3" name="be-summary">
            <a:extLst xmlns:a="http://schemas.openxmlformats.org/drawingml/2006/main">
              <a:ext uri="{FF2B5EF4-FFF2-40B4-BE49-F238E27FC236}">
                <a16:creationId xmlns:a16="http://schemas.microsoft.com/office/drawing/2014/main" id="{3718C84D-8572-42C1-8136-EAC6D561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28825"/>
            <a:ext cx="31051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«Уверцюра 1947 года» і «Рэквіем 228»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Тэатр і танец: прысутнасць на сцэне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Памяць як публічнае перажыванне</a:t>
            </a:r>
          </a:p>
        </p:txBody>
      </p:sp>
      <p:sp>
        <p:nvSpPr>
          <p:cNvPr id="4" name="en-summary">
            <a:extLst xmlns:a="http://schemas.openxmlformats.org/drawingml/2006/main">
              <a:ext uri="{FF2B5EF4-FFF2-40B4-BE49-F238E27FC236}">
                <a16:creationId xmlns:a16="http://schemas.microsoft.com/office/drawing/2014/main" id="{93B11DF4-B69C-4989-B2E6-94FE9357A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57625"/>
            <a:ext cx="3105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1947 Overture and 228 Requiem</a:t>
            </a:r>
          </a:p>
          <a:p xmlns:a="http://schemas.openxmlformats.org/drawingml/2006/main">
            <a:pPr>
              <a:defRPr sz="13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Theatre and dance</a:t>
            </a:r>
          </a:p>
          <a:p xmlns:a="http://schemas.openxmlformats.org/drawingml/2006/main">
            <a:pPr>
              <a:defRPr sz="13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Memory as a public experience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f47deeef794025"/>
          <a:stretch xmlns:a="http://schemas.openxmlformats.org/drawingml/2006/main"/>
        </p:blipFill>
        <p:spPr>
          <a:xfrm xmlns:a="http://schemas.openxmlformats.org/drawingml/2006/main">
            <a:off x="3783602" y="428625"/>
            <a:ext cx="4872446" cy="3552825"/>
          </a:xfrm>
          <a:prstGeom xmlns:a="http://schemas.openxmlformats.org/drawingml/2006/main" prst="rect">
            <a:avLst/>
          </a:prstGeom>
        </p:spPr>
      </p:pic>
      <p:sp>
        <p:nvSpPr>
          <p:cNvPr id="6" name="woodcut-caption">
            <a:extLst xmlns:a="http://schemas.openxmlformats.org/drawingml/2006/main">
              <a:ext uri="{FF2B5EF4-FFF2-40B4-BE49-F238E27FC236}">
                <a16:creationId xmlns:a16="http://schemas.microsoft.com/office/drawing/2014/main" id="{09D709DC-B979-48D7-A821-B747679C9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114800"/>
            <a:ext cx="4876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Хуан Жунцань: «Жахлівая праверка», 1947</a:t>
            </a:r>
          </a:p>
          <a:p xmlns:a="http://schemas.openxmlformats.org/drawingml/2006/main">
            <a:pPr>
              <a:defRPr sz="1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Huang Rong-can: The Terrible Inspection, woodcut</a:t>
            </a:r>
          </a:p>
        </p:txBody>
      </p:sp>
      <p:sp>
        <p:nvSpPr>
          <p:cNvPr id="7" name="image-credit">
            <a:extLst xmlns:a="http://schemas.openxmlformats.org/drawingml/2006/main">
              <a:ext uri="{FF2B5EF4-FFF2-40B4-BE49-F238E27FC236}">
                <a16:creationId xmlns:a16="http://schemas.microsoft.com/office/drawing/2014/main" id="{D3110765-0333-491A-841E-DBD12547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686300"/>
            <a:ext cx="4333875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Рэпрадукцыя / Reproduction: Wikimedia Commons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4d7c0d59d54cc8"/>
          <a:stretch xmlns:a="http://schemas.openxmlformats.org/drawingml/2006/main"/>
        </p:blipFill>
        <p:spPr>
          <a:xfrm xmlns:a="http://schemas.openxmlformats.org/drawingml/2006/main">
            <a:off x="511127" y="4562475"/>
            <a:ext cx="587471" cy="409575"/>
          </a:xfrm>
          <a:prstGeom xmlns:a="http://schemas.openxmlformats.org/drawingml/2006/main" prst="rect">
            <a:avLst/>
          </a:prstGeom>
        </p:spPr>
      </p:pic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613F2987-238B-43EC-9B03-917ED3B39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6577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80496590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be-title">
            <a:extLst xmlns:a="http://schemas.openxmlformats.org/drawingml/2006/main">
              <a:ext uri="{FF2B5EF4-FFF2-40B4-BE49-F238E27FC236}">
                <a16:creationId xmlns:a16="http://schemas.microsoft.com/office/drawing/2014/main" id="{CC70F208-02F7-4014-90B5-F836C55A5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"/>
            <a:ext cx="4476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Інтэрактыўная памяць</a:t>
            </a:r>
          </a:p>
        </p:txBody>
      </p:sp>
      <p:sp>
        <p:nvSpPr>
          <p:cNvPr id="2" name="en-title">
            <a:extLst xmlns:a="http://schemas.openxmlformats.org/drawingml/2006/main">
              <a:ext uri="{FF2B5EF4-FFF2-40B4-BE49-F238E27FC236}">
                <a16:creationId xmlns:a16="http://schemas.microsoft.com/office/drawing/2014/main" id="{7B859DC1-F177-420B-9A65-E1C0F353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62050"/>
            <a:ext cx="4476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B573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B573B"/>
                </a:solidFill>
                <a:latin typeface="Arial"/>
                <a:ea typeface="Arial"/>
                <a:cs typeface="Arial"/>
              </a:rPr>
              <a:t>Interactive Memory</a:t>
            </a:r>
          </a:p>
        </p:txBody>
      </p:sp>
      <p:sp>
        <p:nvSpPr>
          <p:cNvPr id="3" name="be-summary">
            <a:extLst xmlns:a="http://schemas.openxmlformats.org/drawingml/2006/main">
              <a:ext uri="{FF2B5EF4-FFF2-40B4-BE49-F238E27FC236}">
                <a16:creationId xmlns:a16="http://schemas.microsoft.com/office/drawing/2014/main" id="{675CD025-B8BB-47CF-98C8-7D30AC538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447675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Detention: гульня, 2017; фільм, 2019</a:t>
            </a:r>
          </a:p>
          <a:p xmlns:a="http://schemas.openxmlformats.org/drawingml/2006/main">
            <a:pPr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Школа, забароненае чытанне, данос і страх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«Сын Фармозы»: біяграфія ў графічным рамане</a:t>
            </a:r>
          </a:p>
        </p:txBody>
      </p:sp>
      <p:sp>
        <p:nvSpPr>
          <p:cNvPr id="4" name="en-summary">
            <a:extLst xmlns:a="http://schemas.openxmlformats.org/drawingml/2006/main">
              <a:ext uri="{FF2B5EF4-FFF2-40B4-BE49-F238E27FC236}">
                <a16:creationId xmlns:a16="http://schemas.microsoft.com/office/drawing/2014/main" id="{620928BC-5EA6-40DD-9317-3280D4D9F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00450"/>
            <a:ext cx="4476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Detention: game, 2017; film, 2019</a:t>
            </a:r>
          </a:p>
          <a:p xmlns:a="http://schemas.openxmlformats.org/drawingml/2006/main">
            <a:pPr>
              <a:defRPr sz="13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School life, banned reading, denunciation, fear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Son of Formosa: biography in a graphic novel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1ad27fd5cd498a"/>
          <a:stretch xmlns:a="http://schemas.openxmlformats.org/drawingml/2006/main"/>
        </p:blipFill>
        <p:spPr>
          <a:xfrm xmlns:a="http://schemas.openxmlformats.org/drawingml/2006/main">
            <a:off x="5607867" y="333375"/>
            <a:ext cx="2814590" cy="4076700"/>
          </a:xfrm>
          <a:prstGeom xmlns:a="http://schemas.openxmlformats.org/drawingml/2006/main" prst="rect">
            <a:avLst/>
          </a:prstGeom>
        </p:spPr>
      </p:pic>
      <p:sp>
        <p:nvSpPr>
          <p:cNvPr id="6" name="detention-caption">
            <a:extLst xmlns:a="http://schemas.openxmlformats.org/drawingml/2006/main">
              <a:ext uri="{FF2B5EF4-FFF2-40B4-BE49-F238E27FC236}">
                <a16:creationId xmlns:a16="http://schemas.microsoft.com/office/drawing/2014/main" id="{9E95BCAB-8802-48B8-8D82-FD239D8F2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4467225"/>
            <a:ext cx="33051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Detention, 2019</a:t>
            </a:r>
          </a:p>
        </p:txBody>
      </p:sp>
      <p:sp>
        <p:nvSpPr>
          <p:cNvPr id="7" name="image-credit">
            <a:extLst xmlns:a="http://schemas.openxmlformats.org/drawingml/2006/main">
              <a:ext uri="{FF2B5EF4-FFF2-40B4-BE49-F238E27FC236}">
                <a16:creationId xmlns:a16="http://schemas.microsoft.com/office/drawing/2014/main" id="{DFFCBD47-5DC4-4AAC-A3E5-E5C9E8931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575" y="47815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Афіша / Poster: Taiwan Cinema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8aacf58c1e48b2"/>
          <a:stretch xmlns:a="http://schemas.openxmlformats.org/drawingml/2006/main"/>
        </p:blipFill>
        <p:spPr>
          <a:xfrm xmlns:a="http://schemas.openxmlformats.org/drawingml/2006/main">
            <a:off x="511127" y="4562475"/>
            <a:ext cx="587471" cy="409575"/>
          </a:xfrm>
          <a:prstGeom xmlns:a="http://schemas.openxmlformats.org/drawingml/2006/main" prst="rect">
            <a:avLst/>
          </a:prstGeom>
        </p:spPr>
      </p:pic>
      <p:sp>
        <p:nvSpPr>
          <p:cNvPr id="9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42351BD5-3DF3-4A6D-A4E5-25C5EE0C5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6577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9210994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be-title">
            <a:extLst xmlns:a="http://schemas.openxmlformats.org/drawingml/2006/main">
              <a:ext uri="{FF2B5EF4-FFF2-40B4-BE49-F238E27FC236}">
                <a16:creationId xmlns:a16="http://schemas.microsoft.com/office/drawing/2014/main" id="{F587DA91-943C-49BE-953A-FFF8EE4D0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319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Памяць знізу і грамадскі кантроль</a:t>
            </a:r>
          </a:p>
        </p:txBody>
      </p:sp>
      <p:sp>
        <p:nvSpPr>
          <p:cNvPr id="2" name="en-title">
            <a:extLst xmlns:a="http://schemas.openxmlformats.org/drawingml/2006/main">
              <a:ext uri="{FF2B5EF4-FFF2-40B4-BE49-F238E27FC236}">
                <a16:creationId xmlns:a16="http://schemas.microsoft.com/office/drawing/2014/main" id="{2929B19E-1326-4005-879A-F4EFA6A4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00175"/>
            <a:ext cx="319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B573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B573B"/>
                </a:solidFill>
                <a:latin typeface="Arial"/>
                <a:ea typeface="Arial"/>
                <a:cs typeface="Arial"/>
              </a:rPr>
              <a:t>Memory from Below and Public Oversight</a:t>
            </a:r>
          </a:p>
        </p:txBody>
      </p:sp>
      <p:sp>
        <p:nvSpPr>
          <p:cNvPr id="3" name="be-summary">
            <a:extLst xmlns:a="http://schemas.openxmlformats.org/drawingml/2006/main">
              <a:ext uri="{FF2B5EF4-FFF2-40B4-BE49-F238E27FC236}">
                <a16:creationId xmlns:a16="http://schemas.microsoft.com/office/drawing/2014/main" id="{16FE36BC-2891-4D2C-B4DF-4369DA52A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47925"/>
            <a:ext cx="31051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Найлон Чэн: свабода слова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500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Цэнзура і грамадскі супраціў</a:t>
            </a:r>
          </a:p>
        </p:txBody>
      </p:sp>
      <p:sp>
        <p:nvSpPr>
          <p:cNvPr id="4" name="en-summary">
            <a:extLst xmlns:a="http://schemas.openxmlformats.org/drawingml/2006/main">
              <a:ext uri="{FF2B5EF4-FFF2-40B4-BE49-F238E27FC236}">
                <a16:creationId xmlns:a16="http://schemas.microsoft.com/office/drawing/2014/main" id="{70B20B14-1665-4FCA-846F-AFF607988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76650"/>
            <a:ext cx="31051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Nylon Cheng: freedom of speech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35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Censorship and public resistance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ea0bd6319b4400"/>
          <a:stretch xmlns:a="http://schemas.openxmlformats.org/drawingml/2006/main"/>
        </p:blipFill>
        <p:spPr>
          <a:xfrm xmlns:a="http://schemas.openxmlformats.org/drawingml/2006/main">
            <a:off x="3781425" y="822325"/>
            <a:ext cx="2381250" cy="3175000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1a034e611141d7"/>
          <a:stretch xmlns:a="http://schemas.openxmlformats.org/drawingml/2006/main"/>
        </p:blipFill>
        <p:spPr>
          <a:xfrm xmlns:a="http://schemas.openxmlformats.org/drawingml/2006/main">
            <a:off x="6305550" y="1516856"/>
            <a:ext cx="2381250" cy="1785938"/>
          </a:xfrm>
          <a:prstGeom xmlns:a="http://schemas.openxmlformats.org/drawingml/2006/main" prst="rect">
            <a:avLst/>
          </a:prstGeom>
        </p:spPr>
      </p:pic>
      <p:sp>
        <p:nvSpPr>
          <p:cNvPr id="7" name="museum-left">
            <a:extLst xmlns:a="http://schemas.openxmlformats.org/drawingml/2006/main">
              <a:ext uri="{FF2B5EF4-FFF2-40B4-BE49-F238E27FC236}">
                <a16:creationId xmlns:a16="http://schemas.microsoft.com/office/drawing/2014/main" id="{464CA95B-B411-4587-9070-95DC8F271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2291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Нацыянальны музей 228</a:t>
            </a:r>
          </a:p>
          <a:p xmlns:a="http://schemas.openxmlformats.org/drawingml/2006/main">
            <a:pPr>
              <a:defRPr sz="10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National 228 Memorial Museum</a:t>
            </a:r>
          </a:p>
        </p:txBody>
      </p:sp>
      <p:sp>
        <p:nvSpPr>
          <p:cNvPr id="8" name="museum-right">
            <a:extLst xmlns:a="http://schemas.openxmlformats.org/drawingml/2006/main">
              <a:ext uri="{FF2B5EF4-FFF2-40B4-BE49-F238E27FC236}">
                <a16:creationId xmlns:a16="http://schemas.microsoft.com/office/drawing/2014/main" id="{755DCF57-638F-411C-9358-E666FEB7C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22910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Мемарыяльны зал Чан Кайшы</a:t>
            </a:r>
          </a:p>
          <a:p xmlns:a="http://schemas.openxmlformats.org/drawingml/2006/main">
            <a:pPr>
              <a:defRPr sz="10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Chiang Kai-shek Memorial Hall</a:t>
            </a:r>
          </a:p>
        </p:txBody>
      </p:sp>
      <p:sp>
        <p:nvSpPr>
          <p:cNvPr id="9" name="photo-credit">
            <a:extLst xmlns:a="http://schemas.openxmlformats.org/drawingml/2006/main">
              <a:ext uri="{FF2B5EF4-FFF2-40B4-BE49-F238E27FC236}">
                <a16:creationId xmlns:a16="http://schemas.microsoft.com/office/drawing/2014/main" id="{708B0BD9-1503-4801-82AA-C4BEDF468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638675"/>
            <a:ext cx="4333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Фота аўтара / Author’s photographs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cadb4d538b4be7"/>
          <a:stretch xmlns:a="http://schemas.openxmlformats.org/drawingml/2006/main"/>
        </p:blipFill>
        <p:spPr>
          <a:xfrm xmlns:a="http://schemas.openxmlformats.org/drawingml/2006/main">
            <a:off x="511127" y="4562475"/>
            <a:ext cx="587471" cy="409575"/>
          </a:xfrm>
          <a:prstGeom xmlns:a="http://schemas.openxmlformats.org/drawingml/2006/main" prst="rect">
            <a:avLst/>
          </a:prstGeom>
        </p:spPr>
      </p:pic>
      <p:sp>
        <p:nvSpPr>
          <p:cNvPr id="11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F19FE846-B6E8-493A-8A64-FCA1C688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6577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8315336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be-label">
            <a:extLst xmlns:a="http://schemas.openxmlformats.org/drawingml/2006/main">
              <a:ext uri="{FF2B5EF4-FFF2-40B4-BE49-F238E27FC236}">
                <a16:creationId xmlns:a16="http://schemas.microsoft.com/office/drawing/2014/main" id="{0A00E340-76A6-44D7-959A-DC24A85FA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52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B573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B573B"/>
                </a:solidFill>
                <a:latin typeface="Arial"/>
                <a:ea typeface="Arial"/>
                <a:cs typeface="Arial"/>
              </a:rPr>
              <a:t>БЕЛ</a:t>
            </a:r>
          </a:p>
        </p:txBody>
      </p:sp>
      <p:sp>
        <p:nvSpPr>
          <p:cNvPr id="2" name="en-label">
            <a:extLst xmlns:a="http://schemas.openxmlformats.org/drawingml/2006/main">
              <a:ext uri="{FF2B5EF4-FFF2-40B4-BE49-F238E27FC236}">
                <a16:creationId xmlns:a16="http://schemas.microsoft.com/office/drawing/2014/main" id="{828C0985-7A1B-4E2E-9136-480C40B78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95275"/>
            <a:ext cx="571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BB573B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BB573B"/>
                </a:solidFill>
                <a:latin typeface="Arial"/>
                <a:ea typeface="Arial"/>
                <a:cs typeface="Arial"/>
              </a:rPr>
              <a:t>ENG</a:t>
            </a:r>
          </a:p>
        </p:txBody>
      </p:sp>
      <p:sp>
        <p:nvSpPr>
          <p:cNvPr id="3" name="be-title">
            <a:extLst xmlns:a="http://schemas.openxmlformats.org/drawingml/2006/main">
              <a:ext uri="{FF2B5EF4-FFF2-40B4-BE49-F238E27FC236}">
                <a16:creationId xmlns:a16="http://schemas.microsoft.com/office/drawing/2014/main" id="{62379611-0160-41FC-A246-54ABF7BB0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"/>
            <a:ext cx="38385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Беларуская</a:t>
            </a:r>
          </a:p>
          <a:p xmlns:a="http://schemas.openxmlformats.org/drawingml/2006/main">
            <a:pPr>
              <a:defRPr sz="19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перспектыва</a:t>
            </a:r>
          </a:p>
        </p:txBody>
      </p:sp>
      <p:sp>
        <p:nvSpPr>
          <p:cNvPr id="4" name="en-title">
            <a:extLst xmlns:a="http://schemas.openxmlformats.org/drawingml/2006/main">
              <a:ext uri="{FF2B5EF4-FFF2-40B4-BE49-F238E27FC236}">
                <a16:creationId xmlns:a16="http://schemas.microsoft.com/office/drawing/2014/main" id="{9F40F957-FBD0-4402-8786-D41A926A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657225"/>
            <a:ext cx="38862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02020"/>
                </a:solidFill>
                <a:latin typeface="Arial"/>
                <a:ea typeface="Arial"/>
                <a:cs typeface="Arial"/>
              </a:rPr>
              <a:t>The Belarusian Perspective</a:t>
            </a:r>
          </a:p>
        </p:txBody>
      </p:sp>
      <p:sp>
        <p:nvSpPr>
          <p:cNvPr id="5" name="be-item-0">
            <a:extLst xmlns:a="http://schemas.openxmlformats.org/drawingml/2006/main">
              <a:ext uri="{FF2B5EF4-FFF2-40B4-BE49-F238E27FC236}">
                <a16:creationId xmlns:a16="http://schemas.microsoft.com/office/drawing/2014/main" id="{A9D5AF98-AFDF-4300-BF1B-EBA973F2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76400"/>
            <a:ext cx="38671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Захоўваць сведчанні і дакументы ўжо сёння</a:t>
            </a:r>
          </a:p>
        </p:txBody>
      </p:sp>
      <p:sp>
        <p:nvSpPr>
          <p:cNvPr id="6" name="en-item-0">
            <a:extLst xmlns:a="http://schemas.openxmlformats.org/drawingml/2006/main">
              <a:ext uri="{FF2B5EF4-FFF2-40B4-BE49-F238E27FC236}">
                <a16:creationId xmlns:a16="http://schemas.microsoft.com/office/drawing/2014/main" id="{2AB623D4-4982-4733-89CF-0C28D7FE7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676400"/>
            <a:ext cx="3886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Preserve testimony and documents today</a:t>
            </a:r>
          </a:p>
        </p:txBody>
      </p:sp>
      <p:sp>
        <p:nvSpPr>
          <p:cNvPr id="7" name="be-item-1">
            <a:extLst xmlns:a="http://schemas.openxmlformats.org/drawingml/2006/main">
              <a:ext uri="{FF2B5EF4-FFF2-40B4-BE49-F238E27FC236}">
                <a16:creationId xmlns:a16="http://schemas.microsoft.com/office/drawing/2014/main" id="{022D6CAF-74CE-4955-9F9E-F237C4FD8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71725"/>
            <a:ext cx="38671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Злучаць музейную працу з архівам і падтрымкай сем’яў</a:t>
            </a:r>
          </a:p>
        </p:txBody>
      </p:sp>
      <p:sp>
        <p:nvSpPr>
          <p:cNvPr id="8" name="en-item-1">
            <a:extLst xmlns:a="http://schemas.openxmlformats.org/drawingml/2006/main">
              <a:ext uri="{FF2B5EF4-FFF2-40B4-BE49-F238E27FC236}">
                <a16:creationId xmlns:a16="http://schemas.microsoft.com/office/drawing/2014/main" id="{D5E21176-A182-4D41-AB72-D4F537883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371725"/>
            <a:ext cx="3886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Connect museums with archives and family support</a:t>
            </a:r>
          </a:p>
        </p:txBody>
      </p:sp>
      <p:sp>
        <p:nvSpPr>
          <p:cNvPr id="9" name="be-item-2">
            <a:extLst xmlns:a="http://schemas.openxmlformats.org/drawingml/2006/main">
              <a:ext uri="{FF2B5EF4-FFF2-40B4-BE49-F238E27FC236}">
                <a16:creationId xmlns:a16="http://schemas.microsoft.com/office/drawing/2014/main" id="{7334B6CE-679C-4241-B890-92A375BE7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67050"/>
            <a:ext cx="38671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Прызнаваць розныя галасы і палітычныя біяграфіі</a:t>
            </a:r>
          </a:p>
        </p:txBody>
      </p:sp>
      <p:sp>
        <p:nvSpPr>
          <p:cNvPr id="10" name="en-item-2">
            <a:extLst xmlns:a="http://schemas.openxmlformats.org/drawingml/2006/main">
              <a:ext uri="{FF2B5EF4-FFF2-40B4-BE49-F238E27FC236}">
                <a16:creationId xmlns:a16="http://schemas.microsoft.com/office/drawing/2014/main" id="{C6E8E433-4A79-4C77-A925-482078EB0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067050"/>
            <a:ext cx="3886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Recognize diverse voices and political biographies</a:t>
            </a:r>
          </a:p>
        </p:txBody>
      </p:sp>
      <p:sp>
        <p:nvSpPr>
          <p:cNvPr id="11" name="be-item-3">
            <a:extLst xmlns:a="http://schemas.openxmlformats.org/drawingml/2006/main">
              <a:ext uri="{FF2B5EF4-FFF2-40B4-BE49-F238E27FC236}">
                <a16:creationId xmlns:a16="http://schemas.microsoft.com/office/drawing/2014/main" id="{336212E0-B77E-4EE9-BE26-BE76FBC57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62375"/>
            <a:ext cx="38671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Адкрытая спрэчка як умова жывой культуры памяці</a:t>
            </a:r>
          </a:p>
        </p:txBody>
      </p:sp>
      <p:sp>
        <p:nvSpPr>
          <p:cNvPr id="12" name="en-item-3">
            <a:extLst xmlns:a="http://schemas.openxmlformats.org/drawingml/2006/main">
              <a:ext uri="{FF2B5EF4-FFF2-40B4-BE49-F238E27FC236}">
                <a16:creationId xmlns:a16="http://schemas.microsoft.com/office/drawing/2014/main" id="{278BD809-2002-4B0C-A652-065EBB540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762375"/>
            <a:ext cx="38862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20202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202020"/>
                </a:solidFill>
                <a:latin typeface="Arial"/>
                <a:ea typeface="Arial"/>
                <a:cs typeface="Arial"/>
              </a:rPr>
              <a:t>Open debate as a condition of a living memory culture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46fbf4708e4d8c"/>
          <a:stretch xmlns:a="http://schemas.openxmlformats.org/drawingml/2006/main"/>
        </p:blipFill>
        <p:spPr>
          <a:xfrm xmlns:a="http://schemas.openxmlformats.org/drawingml/2006/main">
            <a:off x="511127" y="4562475"/>
            <a:ext cx="587471" cy="409575"/>
          </a:xfrm>
          <a:prstGeom xmlns:a="http://schemas.openxmlformats.org/drawingml/2006/main" prst="rect">
            <a:avLst/>
          </a:prstGeom>
        </p:spPr>
      </p:pic>
      <p:sp>
        <p:nvSpPr>
          <p:cNvPr id="1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DE1D933-92D5-4168-A306-E371AEEE3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657725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anchor="t">
            <a:noAutofit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555555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55555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7138807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2026-10-06T13:36:49.5470000Z</dcterms:created>
  <dcterms:modified xsi:type="dcterms:W3CDTF">2026-10-06T13:36:49.5470000Z</dcterms:modified>
</coreProperties>
</file>